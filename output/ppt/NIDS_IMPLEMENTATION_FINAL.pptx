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08190af84a462a" /><Relationship Type="http://schemas.openxmlformats.org/officeDocument/2006/relationships/extended-properties" Target="/docProps/app.xml" Id="Rf9a898991a974363" /><Relationship Type="http://schemas.openxmlformats.org/officeDocument/2006/relationships/officeDocument" Target="/ppt/presentation.xml" Id="R77e7e7df2b13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3ce2d67ea4caa"/>
  </p:sldMasterIdLst>
  <p:notesMasterIdLst>
    <p:notesMasterId xmlns:r="http://schemas.openxmlformats.org/officeDocument/2006/relationships" r:id="R9e3b9b47f55542ec"/>
  </p:notesMasterIdLst>
  <p:sldIdLst>
    <p:sldId xmlns:r="http://schemas.openxmlformats.org/officeDocument/2006/relationships" id="256" r:id="Rdc6c003facc04bb9"/>
    <p:sldId xmlns:r="http://schemas.openxmlformats.org/officeDocument/2006/relationships" id="257" r:id="R773b6e9ebbcd4457"/>
    <p:sldId xmlns:r="http://schemas.openxmlformats.org/officeDocument/2006/relationships" id="258" r:id="Rb4b39d67fd1d4051"/>
    <p:sldId xmlns:r="http://schemas.openxmlformats.org/officeDocument/2006/relationships" id="259" r:id="R4c9b7f53c21b4092"/>
    <p:sldId xmlns:r="http://schemas.openxmlformats.org/officeDocument/2006/relationships" id="260" r:id="R4c259161457e4734"/>
    <p:sldId xmlns:r="http://schemas.openxmlformats.org/officeDocument/2006/relationships" id="261" r:id="R9cc0b4faef2e463c"/>
    <p:sldId xmlns:r="http://schemas.openxmlformats.org/officeDocument/2006/relationships" id="262" r:id="Rff3e8f79cd1a42ae"/>
    <p:sldId xmlns:r="http://schemas.openxmlformats.org/officeDocument/2006/relationships" id="263" r:id="R0e88c94be0fe46ed"/>
    <p:sldId xmlns:r="http://schemas.openxmlformats.org/officeDocument/2006/relationships" id="264" r:id="R039e9d0167e645df"/>
    <p:sldId xmlns:r="http://schemas.openxmlformats.org/officeDocument/2006/relationships" id="265" r:id="Rc506972f21a44f25"/>
    <p:sldId xmlns:r="http://schemas.openxmlformats.org/officeDocument/2006/relationships" id="266" r:id="Rb5bc9f090dc74ac6"/>
    <p:sldId xmlns:r="http://schemas.openxmlformats.org/officeDocument/2006/relationships" id="267" r:id="R4a021955302f43b1"/>
    <p:sldId xmlns:r="http://schemas.openxmlformats.org/officeDocument/2006/relationships" id="268" r:id="R22b07cabebb542e6"/>
    <p:sldId xmlns:r="http://schemas.openxmlformats.org/officeDocument/2006/relationships" id="269" r:id="R0a1036146ed1400e"/>
    <p:sldId xmlns:r="http://schemas.openxmlformats.org/officeDocument/2006/relationships" id="270" r:id="R0d9a7f3ff9104c8e"/>
    <p:sldId xmlns:r="http://schemas.openxmlformats.org/officeDocument/2006/relationships" id="271" r:id="R657f3b815fda4c84"/>
    <p:sldId xmlns:r="http://schemas.openxmlformats.org/officeDocument/2006/relationships" id="272" r:id="R258d511a7a9e41b8"/>
    <p:sldId xmlns:r="http://schemas.openxmlformats.org/officeDocument/2006/relationships" id="273" r:id="Re01da791c16a4943"/>
    <p:sldId xmlns:r="http://schemas.openxmlformats.org/officeDocument/2006/relationships" id="274" r:id="Rc7b19d9a911a4baf"/>
    <p:sldId xmlns:r="http://schemas.openxmlformats.org/officeDocument/2006/relationships" id="275" r:id="R0fe45ff21c0f4ab3"/>
    <p:sldId xmlns:r="http://schemas.openxmlformats.org/officeDocument/2006/relationships" id="276" r:id="R434cf0241ab24a54"/>
    <p:sldId xmlns:r="http://schemas.openxmlformats.org/officeDocument/2006/relationships" id="277" r:id="R80860a40e12f417b"/>
    <p:sldId xmlns:r="http://schemas.openxmlformats.org/officeDocument/2006/relationships" id="278" r:id="R9e28ac90e7b44c67"/>
    <p:sldId xmlns:r="http://schemas.openxmlformats.org/officeDocument/2006/relationships" id="279" r:id="Rdbd6737fba87434b"/>
    <p:sldId xmlns:r="http://schemas.openxmlformats.org/officeDocument/2006/relationships" id="280" r:id="Ra18377cc59e844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151d490f4484f" /><Relationship Type="http://schemas.openxmlformats.org/officeDocument/2006/relationships/slideMaster" Target="/ppt/slideMasters/slideMaster1.xml" Id="R30a3ce2d67ea4caa" /><Relationship Type="http://schemas.openxmlformats.org/officeDocument/2006/relationships/notesMaster" Target="/ppt/notesMasters/notesMaster1.xml" Id="R9e3b9b47f55542ec" /><Relationship Type="http://schemas.openxmlformats.org/officeDocument/2006/relationships/presProps" Target="/ppt/presProps.xml" Id="R06f66a78501b467a" /><Relationship Type="http://schemas.openxmlformats.org/officeDocument/2006/relationships/tableStyles" Target="/ppt/tableStyles.xml" Id="Rc2c51ac5fb50456d" /><Relationship Type="http://schemas.openxmlformats.org/officeDocument/2006/relationships/slide" Target="/ppt/slides/slide1.xml" Id="Rdc6c003facc04bb9" /><Relationship Type="http://schemas.openxmlformats.org/officeDocument/2006/relationships/slide" Target="/ppt/slides/slide2.xml" Id="R773b6e9ebbcd4457" /><Relationship Type="http://schemas.openxmlformats.org/officeDocument/2006/relationships/slide" Target="/ppt/slides/slide3.xml" Id="Rb4b39d67fd1d4051" /><Relationship Type="http://schemas.openxmlformats.org/officeDocument/2006/relationships/slide" Target="/ppt/slides/slide4.xml" Id="R4c9b7f53c21b4092" /><Relationship Type="http://schemas.openxmlformats.org/officeDocument/2006/relationships/slide" Target="/ppt/slides/slide5.xml" Id="R4c259161457e4734" /><Relationship Type="http://schemas.openxmlformats.org/officeDocument/2006/relationships/slide" Target="/ppt/slides/slide6.xml" Id="R9cc0b4faef2e463c" /><Relationship Type="http://schemas.openxmlformats.org/officeDocument/2006/relationships/slide" Target="/ppt/slides/slide7.xml" Id="Rff3e8f79cd1a42ae" /><Relationship Type="http://schemas.openxmlformats.org/officeDocument/2006/relationships/slide" Target="/ppt/slides/slide8.xml" Id="R0e88c94be0fe46ed" /><Relationship Type="http://schemas.openxmlformats.org/officeDocument/2006/relationships/slide" Target="/ppt/slides/slide9.xml" Id="R039e9d0167e645df" /><Relationship Type="http://schemas.openxmlformats.org/officeDocument/2006/relationships/slide" Target="/ppt/slides/slide10.xml" Id="Rc506972f21a44f25" /><Relationship Type="http://schemas.openxmlformats.org/officeDocument/2006/relationships/slide" Target="/ppt/slides/slide11.xml" Id="Rb5bc9f090dc74ac6" /><Relationship Type="http://schemas.openxmlformats.org/officeDocument/2006/relationships/slide" Target="/ppt/slides/slide12.xml" Id="R4a021955302f43b1" /><Relationship Type="http://schemas.openxmlformats.org/officeDocument/2006/relationships/slide" Target="/ppt/slides/slide13.xml" Id="R22b07cabebb542e6" /><Relationship Type="http://schemas.openxmlformats.org/officeDocument/2006/relationships/slide" Target="/ppt/slides/slide14.xml" Id="R0a1036146ed1400e" /><Relationship Type="http://schemas.openxmlformats.org/officeDocument/2006/relationships/slide" Target="/ppt/slides/slide15.xml" Id="R0d9a7f3ff9104c8e" /><Relationship Type="http://schemas.openxmlformats.org/officeDocument/2006/relationships/slide" Target="/ppt/slides/slide16.xml" Id="R657f3b815fda4c84" /><Relationship Type="http://schemas.openxmlformats.org/officeDocument/2006/relationships/slide" Target="/ppt/slides/slide17.xml" Id="R258d511a7a9e41b8" /><Relationship Type="http://schemas.openxmlformats.org/officeDocument/2006/relationships/slide" Target="/ppt/slides/slide18.xml" Id="Re01da791c16a4943" /><Relationship Type="http://schemas.openxmlformats.org/officeDocument/2006/relationships/slide" Target="/ppt/slides/slide19.xml" Id="Rc7b19d9a911a4baf" /><Relationship Type="http://schemas.openxmlformats.org/officeDocument/2006/relationships/slide" Target="/ppt/slides/slide20.xml" Id="R0fe45ff21c0f4ab3" /><Relationship Type="http://schemas.openxmlformats.org/officeDocument/2006/relationships/slide" Target="/ppt/slides/slide21.xml" Id="R434cf0241ab24a54" /><Relationship Type="http://schemas.openxmlformats.org/officeDocument/2006/relationships/slide" Target="/ppt/slides/slide22.xml" Id="R80860a40e12f417b" /><Relationship Type="http://schemas.openxmlformats.org/officeDocument/2006/relationships/slide" Target="/ppt/slides/slide23.xml" Id="R9e28ac90e7b44c67" /><Relationship Type="http://schemas.openxmlformats.org/officeDocument/2006/relationships/slide" Target="/ppt/slides/slide24.xml" Id="Rdbd6737fba87434b" /><Relationship Type="http://schemas.openxmlformats.org/officeDocument/2006/relationships/slide" Target="/ppt/slides/slide25.xml" Id="Ra18377cc59e8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28f82dbb46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607f53e44b4463" /><Relationship Type="http://schemas.openxmlformats.org/officeDocument/2006/relationships/notesMaster" Target="/ppt/notesMasters/notesMaster1.xml" Id="R4fa2d5a655fa47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1ebba95c14413" /><Relationship Type="http://schemas.openxmlformats.org/officeDocument/2006/relationships/notesMaster" Target="/ppt/notesMasters/notesMaster1.xml" Id="Rd69920d15b6141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19130458724c6c" /><Relationship Type="http://schemas.openxmlformats.org/officeDocument/2006/relationships/notesMaster" Target="/ppt/notesMasters/notesMaster1.xml" Id="R4949fda2640247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73725d79804b27" /><Relationship Type="http://schemas.openxmlformats.org/officeDocument/2006/relationships/notesMaster" Target="/ppt/notesMasters/notesMaster1.xml" Id="R7e6c0f0484844e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e1c07d79ea4548" /><Relationship Type="http://schemas.openxmlformats.org/officeDocument/2006/relationships/notesMaster" Target="/ppt/notesMasters/notesMaster1.xml" Id="Rc7480db9a03741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adf35c524a4d44" /><Relationship Type="http://schemas.openxmlformats.org/officeDocument/2006/relationships/notesMaster" Target="/ppt/notesMasters/notesMaster1.xml" Id="Re94e2f4a2fe24d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3eb422b184460f" /><Relationship Type="http://schemas.openxmlformats.org/officeDocument/2006/relationships/notesMaster" Target="/ppt/notesMasters/notesMaster1.xml" Id="R4c3cd4bc293347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9fff3634349b3" /><Relationship Type="http://schemas.openxmlformats.org/officeDocument/2006/relationships/notesMaster" Target="/ppt/notesMasters/notesMaster1.xml" Id="R9f8de9bba49a43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7152c7b1924ef0" /><Relationship Type="http://schemas.openxmlformats.org/officeDocument/2006/relationships/notesMaster" Target="/ppt/notesMasters/notesMaster1.xml" Id="R3569b812228d40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49552d1e144c1c" /><Relationship Type="http://schemas.openxmlformats.org/officeDocument/2006/relationships/notesMaster" Target="/ppt/notesMasters/notesMaster1.xml" Id="R5d31b3efb7b44f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0adcd9ca35444d" /><Relationship Type="http://schemas.openxmlformats.org/officeDocument/2006/relationships/notesMaster" Target="/ppt/notesMasters/notesMaster1.xml" Id="Rd0036369b26f4e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7716f997cc4542" /><Relationship Type="http://schemas.openxmlformats.org/officeDocument/2006/relationships/notesMaster" Target="/ppt/notesMasters/notesMaster1.xml" Id="R0ab9cbc581b842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7405f9132441a5" /><Relationship Type="http://schemas.openxmlformats.org/officeDocument/2006/relationships/notesMaster" Target="/ppt/notesMasters/notesMaster1.xml" Id="R5643a79c1c2f44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992927c340498f" /><Relationship Type="http://schemas.openxmlformats.org/officeDocument/2006/relationships/notesMaster" Target="/ppt/notesMasters/notesMaster1.xml" Id="R8fd6a631208544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d00866060343d6" /><Relationship Type="http://schemas.openxmlformats.org/officeDocument/2006/relationships/notesMaster" Target="/ppt/notesMasters/notesMaster1.xml" Id="R7a1ce856441741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4dd214032d4c6f" /><Relationship Type="http://schemas.openxmlformats.org/officeDocument/2006/relationships/notesMaster" Target="/ppt/notesMasters/notesMaster1.xml" Id="R9727e33b18374f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fa4be1416f4915" /><Relationship Type="http://schemas.openxmlformats.org/officeDocument/2006/relationships/notesMaster" Target="/ppt/notesMasters/notesMaster1.xml" Id="Rebc15dabd9e947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f965ad62e24ce1" /><Relationship Type="http://schemas.openxmlformats.org/officeDocument/2006/relationships/notesMaster" Target="/ppt/notesMasters/notesMaster1.xml" Id="R5d512cd93a9d49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e20bd2ad2a4ca0" /><Relationship Type="http://schemas.openxmlformats.org/officeDocument/2006/relationships/notesMaster" Target="/ppt/notesMasters/notesMaster1.xml" Id="R8c725c8eb3954d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2d2cb703ac47f8" /><Relationship Type="http://schemas.openxmlformats.org/officeDocument/2006/relationships/notesMaster" Target="/ppt/notesMasters/notesMaster1.xml" Id="Rc6468b9cf1d941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4d76fc97e741f9" /><Relationship Type="http://schemas.openxmlformats.org/officeDocument/2006/relationships/notesMaster" Target="/ppt/notesMasters/notesMaster1.xml" Id="Rba9240012f9d46d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3cd5869f354875" /><Relationship Type="http://schemas.openxmlformats.org/officeDocument/2006/relationships/notesMaster" Target="/ppt/notesMasters/notesMaster1.xml" Id="R713d1ffa06ce427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68577bad404dc1" /><Relationship Type="http://schemas.openxmlformats.org/officeDocument/2006/relationships/notesMaster" Target="/ppt/notesMasters/notesMaster1.xml" Id="R94f2b902c4c144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0960c15d0124d35" /><Relationship Type="http://schemas.openxmlformats.org/officeDocument/2006/relationships/notesMaster" Target="/ppt/notesMasters/notesMaster1.xml" Id="Re7bfef57c57842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a9484183ec40cc" /><Relationship Type="http://schemas.openxmlformats.org/officeDocument/2006/relationships/notesMaster" Target="/ppt/notesMasters/notesMaster1.xml" Id="R8e6f6c869295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documents the implemented software pipeline and current evidence. Synthetic data demonstrates software behavior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Offline input enters the same parser and flow-building path as the monitor. A trusted model is optional. Rule alerts remain available without a model. Persisted records are served through authenticated APIs to the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1: Audit and foundation.</a:t>
            </a:r>
          </a:p>
          <a:p xmlns:a="http://schemas.openxmlformats.org/drawingml/2006/main">
            <a:r>
              <a:t>1. Turned the supplied build brief into a repository plan and safe defaults.</a:t>
            </a:r>
          </a:p>
          <a:p xmlns:a="http://schemas.openxmlformats.org/drawingml/2006/main">
            <a:r>
              <a:t>2. Initialized version control and established the GitHub checkpoint workflow.</a:t>
            </a:r>
          </a:p>
          <a:p xmlns:a="http://schemas.openxmlformats.org/drawingml/2006/main">
            <a:r>
              <a:t>3. Recorded the host, dependencies and initial operational constraints.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2: Packet ingestion and replay.</a:t>
            </a:r>
          </a:p>
          <a:p xmlns:a="http://schemas.openxmlformats.org/drawingml/2006/main">
            <a:r>
              <a:t>1. Parsed packet metadata without retaining payload bytes.</a:t>
            </a:r>
          </a:p>
          <a:p xmlns:a="http://schemas.openxmlformats.org/drawingml/2006/main">
            <a:r>
              <a:t>2. Added streaming PCAP/PCAPNG replay, filters and structured run output.</a:t>
            </a:r>
          </a:p>
          <a:p xmlns:a="http://schemas.openxmlformats.org/drawingml/2006/main">
            <a:r>
              <a:t>3. Kept live capture opt-in and explicitly tied to an interface.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3: Bidirectional flows and features.</a:t>
            </a:r>
          </a:p>
          <a:p xmlns:a="http://schemas.openxmlformats.org/drawingml/2006/main">
            <a:r>
              <a:t>1. Aggregated packets into bounded bidirectional flows with event-time expiry.</a:t>
            </a:r>
          </a:p>
          <a:p xmlns:a="http://schemas.openxmlformats.org/drawingml/2006/main">
            <a:r>
              <a:t>2. Recorded directional packet, byte, size and TCP-flag counters.</a:t>
            </a:r>
          </a:p>
          <a:p xmlns:a="http://schemas.openxmlformats.org/drawingml/2006/main">
            <a:r>
              <a:t>3. Defined and documented the ordered feature schema version 1.0.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4: Dataset preparation and evaluation.</a:t>
            </a:r>
          </a:p>
          <a:p xmlns:a="http://schemas.openxmlformats.org/drawingml/2006/main">
            <a:r>
              <a:t>1. Exported features through the same flow builder used at inference.</a:t>
            </a:r>
          </a:p>
          <a:p xmlns:a="http://schemas.openxmlformats.org/drawingml/2006/main">
            <a:r>
              <a:t>2. Added provenance, strict validation and capture-group separation.</a:t>
            </a:r>
          </a:p>
          <a:p xmlns:a="http://schemas.openxmlformats.org/drawingml/2006/main">
            <a:r>
              <a:t>3. Implemented train/validation/test evaluation with held-out groups.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5: Inference and explainable alerts.</a:t>
            </a:r>
          </a:p>
          <a:p xmlns:a="http://schemas.openxmlformats.org/drawingml/2006/main">
            <a:r>
              <a:t>1. Validated model metadata, checksum, schema and runtime before inference.</a:t>
            </a:r>
          </a:p>
          <a:p xmlns:a="http://schemas.openxmlformats.org/drawingml/2006/main">
            <a:r>
              <a:t>2. Kept an explicit rule-only mode when no trusted model is present.</a:t>
            </a:r>
          </a:p>
          <a:p xmlns:a="http://schemas.openxmlformats.org/drawingml/2006/main">
            <a:r>
              <a:t>3. Added SYN-burst and high-rate alerts with evidence and deduplication.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6: Persistence and REST API.</a:t>
            </a:r>
          </a:p>
          <a:p xmlns:a="http://schemas.openxmlformats.org/drawingml/2006/main">
            <a:r>
              <a:t>1. Added PostgreSQL schema and migrations for pipeline observations.</a:t>
            </a:r>
          </a:p>
          <a:p xmlns:a="http://schemas.openxmlformats.org/drawingml/2006/main">
            <a:r>
              <a:t>2. Persisted flow, prediction and alert records transactionally.</a:t>
            </a:r>
          </a:p>
          <a:p xmlns:a="http://schemas.openxmlformats.org/drawingml/2006/main">
            <a:r>
              <a:t>3. Exposed validated authenticated resources with pagination.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7: WebSockets and access control.</a:t>
            </a:r>
          </a:p>
          <a:p xmlns:a="http://schemas.openxmlformats.org/drawingml/2006/main">
            <a:r>
              <a:t>1. Added access and refresh sessions with analyst/viewer/admin roles.</a:t>
            </a:r>
          </a:p>
          <a:p xmlns:a="http://schemas.openxmlformats.org/drawingml/2006/main">
            <a:r>
              <a:t>2. Protected alert acknowledgement and administrative operations.</a:t>
            </a:r>
          </a:p>
          <a:p xmlns:a="http://schemas.openxmlformats.org/drawingml/2006/main">
            <a:r>
              <a:t>3. Streamed authenticated alerts and recorded audit events.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8: Authenticated dashboard.</a:t>
            </a:r>
          </a:p>
          <a:p xmlns:a="http://schemas.openxmlformats.org/drawingml/2006/main">
            <a:r>
              <a:t>1. Built sign-in, alert and flow investigation screens in React.</a:t>
            </a:r>
          </a:p>
          <a:p xmlns:a="http://schemas.openxmlformats.org/drawingml/2006/main">
            <a:r>
              <a:t>2. Added URL-backed filters, pagination, responsive views and status states.</a:t>
            </a:r>
          </a:p>
          <a:p xmlns:a="http://schemas.openxmlformats.org/drawingml/2006/main">
            <a:r>
              <a:t>3. Kept session tokens in memory and enforced role-aware controls.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9: Reproducible operation and handoff.</a:t>
            </a:r>
          </a:p>
          <a:p xmlns:a="http://schemas.openxmlformats.org/drawingml/2006/main">
            <a:r>
              <a:t>1. Defined PostgreSQL, API, dashboard and optional monitor in Compose.</a:t>
            </a:r>
          </a:p>
          <a:p xmlns:a="http://schemas.openxmlformats.org/drawingml/2006/main">
            <a:r>
              <a:t>2. Added health checks, pinned images, environment guidance and operator docs.</a:t>
            </a:r>
          </a:p>
          <a:p xmlns:a="http://schemas.openxmlformats.org/drawingml/2006/main">
            <a:r>
              <a:t>3. Documented deployment scope and boundaries on evidence.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10: Integration and handoff.</a:t>
            </a:r>
          </a:p>
          <a:p xmlns:a="http://schemas.openxmlformats.org/drawingml/2006/main">
            <a:r>
              <a:t>1. Re-ran the integration and frontend checks and checked migration state.</a:t>
            </a:r>
          </a:p>
          <a:p xmlns:a="http://schemas.openxmlformats.org/drawingml/2006/main">
            <a:r>
              <a:t>2. Recorded the first ten-step release and supporting handoff documents.</a:t>
            </a:r>
          </a:p>
          <a:p xmlns:a="http://schemas.openxmlformats.org/drawingml/2006/main">
            <a:r>
              <a:t>3. Kept unverified capture and model work clearly identified.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11: PostgreSQL integration coverage.</a:t>
            </a:r>
          </a:p>
          <a:p xmlns:a="http://schemas.openxmlformats.org/drawingml/2006/main">
            <a:r>
              <a:t>1. Added an opt-in integration path guarded to a disposable test database.</a:t>
            </a:r>
          </a:p>
          <a:p xmlns:a="http://schemas.openxmlformats.org/drawingml/2006/main">
            <a:r>
              <a:t>2. Covered login, transactional persistence, acknowledgement and refresh.</a:t>
            </a:r>
          </a:p>
          <a:p xmlns:a="http://schemas.openxmlformats.org/drawingml/2006/main">
            <a:r>
              <a:t>3. Verified authenticated WebSocket delivery and cleaned up test resources.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12: Capture-run lifecycle.</a:t>
            </a:r>
          </a:p>
          <a:p xmlns:a="http://schemas.openxmlformats.org/drawingml/2006/main">
            <a:r>
              <a:t>1. Added running, completed, partial and failed run records.</a:t>
            </a:r>
          </a:p>
          <a:p xmlns:a="http://schemas.openxmlformats.org/drawingml/2006/main">
            <a:r>
              <a:t>2. Recorded bounded counters, model identity, timing and failure codes.</a:t>
            </a:r>
          </a:p>
          <a:p xmlns:a="http://schemas.openxmlformats.org/drawingml/2006/main">
            <a:r>
              <a:t>3. Handled incomplete runs as incomplete rather than successful.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13: Retry-safe replay identity.</a:t>
            </a:r>
          </a:p>
          <a:p xmlns:a="http://schemas.openxmlformats.org/drawingml/2006/main">
            <a:r>
              <a:t>1. Added stable capture IDs and idempotent retry behavior.</a:t>
            </a:r>
          </a:p>
          <a:p xmlns:a="http://schemas.openxmlformats.org/drawingml/2006/main">
            <a:r>
              <a:t>2. Counted duplicate flows while preserving acknowledgement state.</a:t>
            </a:r>
          </a:p>
          <a:p xmlns:a="http://schemas.openxmlformats.org/drawingml/2006/main">
            <a:r>
              <a:t>3. Rejected conflicting content assigned to an existing identity.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14: Capture history API.</a:t>
            </a:r>
          </a:p>
          <a:p xmlns:a="http://schemas.openxmlformats.org/drawingml/2006/main">
            <a:r>
              <a:t>1. Added authenticated capture list and detail resources.</a:t>
            </a:r>
          </a:p>
          <a:p xmlns:a="http://schemas.openxmlformats.org/drawingml/2006/main">
            <a:r>
              <a:t>2. Supported validated time/status filters and stable pagination.</a:t>
            </a:r>
          </a:p>
          <a:p xmlns:a="http://schemas.openxmlformats.org/drawingml/2006/main">
            <a:r>
              <a:t>3. Returned lifecycle, model, count and failure evidence.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15: Overview analytics API.</a:t>
            </a:r>
          </a:p>
          <a:p xmlns:a="http://schemas.openxmlformats.org/drawingml/2006/main">
            <a:r>
              <a:t>1. Added persisted count summaries and protocol/severity breakdowns.</a:t>
            </a:r>
          </a:p>
          <a:p xmlns:a="http://schemas.openxmlformats.org/drawingml/2006/main">
            <a:r>
              <a:t>2. Added hourly/daily UTC timelines with zero-filled buckets.</a:t>
            </a:r>
          </a:p>
          <a:p xmlns:a="http://schemas.openxmlformats.org/drawingml/2006/main">
            <a:r>
              <a:t>3. Bounded date ranges and validated timestamps and bucket values.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16: Overview and history dashboard.</a:t>
            </a:r>
          </a:p>
          <a:p xmlns:a="http://schemas.openxmlformats.org/drawingml/2006/main">
            <a:r>
              <a:t>1. Connected overview totals and timelines to stored API data.</a:t>
            </a:r>
          </a:p>
          <a:p xmlns:a="http://schemas.openxmlformats.org/drawingml/2006/main">
            <a:r>
              <a:t>2. Added accessible chart values, URL filters and capture run details.</a:t>
            </a:r>
          </a:p>
          <a:p xmlns:a="http://schemas.openxmlformats.org/drawingml/2006/main">
            <a:r>
              <a:t>3. Handled loading, empty, stale, retry, and responsive states.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17: Model and evaluation view.</a:t>
            </a:r>
          </a:p>
          <a:p xmlns:a="http://schemas.openxmlformats.org/drawingml/2006/main">
            <a:r>
              <a:t>1. Added verified model status and evaluation-report integrity checks.</a:t>
            </a:r>
          </a:p>
          <a:p xmlns:a="http://schemas.openxmlformats.org/drawingml/2006/main">
            <a:r>
              <a:t>2. Displayed metrics only when report identity and checksum match.</a:t>
            </a:r>
          </a:p>
          <a:p xmlns:a="http://schemas.openxmlformats.org/drawingml/2006/main">
            <a:r>
              <a:t>3. Made absent, invalid and incompatible model states explicit.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18: Administrator user management.</a:t>
            </a:r>
          </a:p>
          <a:p xmlns:a="http://schemas.openxmlformats.org/drawingml/2006/main">
            <a:r>
              <a:t>1. Added server-protected account listing, creation and status changes.</a:t>
            </a:r>
          </a:p>
          <a:p xmlns:a="http://schemas.openxmlformats.org/drawingml/2006/main">
            <a:r>
              <a:t>2. Prevented self-deactivation and last-active-admin lockout.</a:t>
            </a:r>
          </a:p>
          <a:p xmlns:a="http://schemas.openxmlformats.org/drawingml/2006/main">
            <a:r>
              <a:t>3. Audited changes and revoked refresh sessions on deactivation.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19: Login abuse controls.</a:t>
            </a:r>
          </a:p>
          <a:p xmlns:a="http://schemas.openxmlformats.org/drawingml/2006/main">
            <a:r>
              <a:t>1. Added bounded process-local login throttling and 429 responses.</a:t>
            </a:r>
          </a:p>
          <a:p xmlns:a="http://schemas.openxmlformats.org/drawingml/2006/main">
            <a:r>
              <a:t>2. Normalized usernames; used direct peer identity and ignored forwarded headers.</a:t>
            </a:r>
          </a:p>
          <a:p xmlns:a="http://schemas.openxmlformats.org/drawingml/2006/main">
            <a:r>
              <a:t>3. Documented deployment limits for multiple workers and distributed rate limits.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20: Performance and final handoff.</a:t>
            </a:r>
          </a:p>
          <a:p xmlns:a="http://schemas.openxmlformats.org/drawingml/2006/main">
            <a:r>
              <a:t>1. Added reproducible synthetic PCAP generation and replay benchmarking.</a:t>
            </a:r>
          </a:p>
          <a:p xmlns:a="http://schemas.openxmlformats.org/drawingml/2006/main">
            <a:r>
              <a:t>2. Split dashboard routes and charts into lazy-loaded production chunks.</a:t>
            </a:r>
          </a:p>
          <a:p xmlns:a="http://schemas.openxmlformats.org/drawingml/2006/main">
            <a:r>
              <a:t>3. Completed the twenty-step software handoff with limits and evidence.</a:t>
            </a:r>
          </a:p>
          <a:p xmlns:a="http://schemas.openxmlformats.org/drawingml/2006/main">
            <a:r>
              <a:t>See docs/PROGRESS.md for checkpoint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endpoint uses documentation-only TEST-NET addresses and the real parser, flow builder, inference availability state and AlertEngine. The generated event is synthetic. It is not persisted and must not be described as a real intrusion.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step 20 test counts and benchmark results were recorded in docs/PROGRESS.md and docs/TESTING.md. The 100.99 packets/second result includes process startup/output on synthetic traffic; it is not live network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contains no supplied labeled dataset or trained trusted project model. Live capture has not been verified. Keep claims within available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d6fb78ca942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8b4e1ed664a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2c8f8500443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3b41491fe47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b846795ff41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a374ba83a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D23F5-2CEE-42AA-9573-0A795236C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2C2E43-31EA-4B88-B440-5B88C0E914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F27EFB-FCCF-44CE-A14F-13B056FF80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A122F3-0E88-4EBE-9380-5AE374C94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4459DB-5C9D-4FE8-8167-9213F8B56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F270FF-EB4B-47BB-8324-29C6AFF15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97D5F0-AD2E-49CD-836D-11AFBB0E5B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5E1AFF-B9D8-4A33-95D5-1A742C8C47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0B7F5F-DD2A-49B9-9A99-2A679BEBB3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7050BC-F859-4C4A-94B7-A8DE007C2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f9b37d688411e" /><Relationship Type="http://schemas.openxmlformats.org/officeDocument/2006/relationships/slideLayout" Target="/ppt/slideLayouts/slideLayout1.xml" Id="Rc0820f38ef314bf0" /><Relationship Type="http://schemas.openxmlformats.org/officeDocument/2006/relationships/slideLayout" Target="/ppt/slideLayouts/slideLayout2.xml" Id="R44e8fdf944c84f1a" /><Relationship Type="http://schemas.openxmlformats.org/officeDocument/2006/relationships/slideLayout" Target="/ppt/slideLayouts/slideLayout3.xml" Id="R1a14f315735d4016" /><Relationship Type="http://schemas.openxmlformats.org/officeDocument/2006/relationships/slideLayout" Target="/ppt/slideLayouts/slideLayout4.xml" Id="R945ef29d77df4f27" /><Relationship Type="http://schemas.openxmlformats.org/officeDocument/2006/relationships/slideLayout" Target="/ppt/slideLayouts/slideLayout5.xml" Id="R2fcae363845746db" /><Relationship Type="http://schemas.openxmlformats.org/officeDocument/2006/relationships/slideLayout" Target="/ppt/slideLayouts/slideLayout6.xml" Id="R5591fc9add2f43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820f38ef314bf0"/>
    <p:sldLayoutId xmlns:r="http://schemas.openxmlformats.org/officeDocument/2006/relationships" id="2147483650" r:id="R44e8fdf944c84f1a"/>
    <p:sldLayoutId xmlns:r="http://schemas.openxmlformats.org/officeDocument/2006/relationships" id="2147483651" r:id="R1a14f315735d4016"/>
    <p:sldLayoutId xmlns:r="http://schemas.openxmlformats.org/officeDocument/2006/relationships" id="2147483652" r:id="R945ef29d77df4f27"/>
    <p:sldLayoutId xmlns:r="http://schemas.openxmlformats.org/officeDocument/2006/relationships" id="2147483653" r:id="R2fcae363845746db"/>
    <p:sldLayoutId xmlns:r="http://schemas.openxmlformats.org/officeDocument/2006/relationships" id="2147483654" r:id="R5591fc9add2f43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557b8031c42a1" /><Relationship Type="http://schemas.openxmlformats.org/officeDocument/2006/relationships/notesSlide" Target="/ppt/notesSlides/notesSlide1.xml" Id="R4372fdd7f98a4f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7b2de57e64c52" /><Relationship Type="http://schemas.openxmlformats.org/officeDocument/2006/relationships/notesSlide" Target="/ppt/notesSlides/notesSlide2.xml" Id="Ra351cd5bc5aa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c523d376d4ab1" /><Relationship Type="http://schemas.openxmlformats.org/officeDocument/2006/relationships/notesSlide" Target="/ppt/notesSlides/notesSlide3.xml" Id="R8222e7ccfdf64f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53422c33344c3" /><Relationship Type="http://schemas.openxmlformats.org/officeDocument/2006/relationships/notesSlide" Target="/ppt/notesSlides/notesSlide4.xml" Id="R790b71a5eb5347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f4d0f47c14813" /><Relationship Type="http://schemas.openxmlformats.org/officeDocument/2006/relationships/notesSlide" Target="/ppt/notesSlides/notesSlide5.xml" Id="R1483eab12f3848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563fd5e1849f4" /><Relationship Type="http://schemas.openxmlformats.org/officeDocument/2006/relationships/notesSlide" Target="/ppt/notesSlides/notesSlide6.xml" Id="Rae170d2a779040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93b6acc084c28" /><Relationship Type="http://schemas.openxmlformats.org/officeDocument/2006/relationships/notesSlide" Target="/ppt/notesSlides/notesSlide7.xml" Id="R985c09efc095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7b46b59ed4e29" /><Relationship Type="http://schemas.openxmlformats.org/officeDocument/2006/relationships/notesSlide" Target="/ppt/notesSlides/notesSlide8.xml" Id="R4eb95c6afc6446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8703f12c144a6" /><Relationship Type="http://schemas.openxmlformats.org/officeDocument/2006/relationships/notesSlide" Target="/ppt/notesSlides/notesSlide9.xml" Id="R38f9734118c24b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bbe1e6b1f4de1" /><Relationship Type="http://schemas.openxmlformats.org/officeDocument/2006/relationships/notesSlide" Target="/ppt/notesSlides/notesSlide10.xml" Id="Rd23cee5c993944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48fe983e594ca3" /><Relationship Type="http://schemas.openxmlformats.org/officeDocument/2006/relationships/notesSlide" Target="/ppt/notesSlides/notesSlide11.xml" Id="R4eeb0f8915de44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e766dfe4d4e44" /><Relationship Type="http://schemas.openxmlformats.org/officeDocument/2006/relationships/notesSlide" Target="/ppt/notesSlides/notesSlide12.xml" Id="Rfa74b9afd48248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fe8a4ca204351" /><Relationship Type="http://schemas.openxmlformats.org/officeDocument/2006/relationships/notesSlide" Target="/ppt/notesSlides/notesSlide13.xml" Id="R7f5f0b83712343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07a04b80248da" /><Relationship Type="http://schemas.openxmlformats.org/officeDocument/2006/relationships/notesSlide" Target="/ppt/notesSlides/notesSlide14.xml" Id="R8e935b84993443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34de7f6e14d3b" /><Relationship Type="http://schemas.openxmlformats.org/officeDocument/2006/relationships/notesSlide" Target="/ppt/notesSlides/notesSlide15.xml" Id="Rd5538996ef3d40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4e4df22354c22" /><Relationship Type="http://schemas.openxmlformats.org/officeDocument/2006/relationships/notesSlide" Target="/ppt/notesSlides/notesSlide16.xml" Id="R99b170ccd37841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20c9974ba4746" /><Relationship Type="http://schemas.openxmlformats.org/officeDocument/2006/relationships/notesSlide" Target="/ppt/notesSlides/notesSlide17.xml" Id="Rcbaa9794e70542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c37d12b304ea8" /><Relationship Type="http://schemas.openxmlformats.org/officeDocument/2006/relationships/notesSlide" Target="/ppt/notesSlides/notesSlide18.xml" Id="R5ed177ce83aa40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6c5104c0d4e6e" /><Relationship Type="http://schemas.openxmlformats.org/officeDocument/2006/relationships/notesSlide" Target="/ppt/notesSlides/notesSlide19.xml" Id="R467122c7ee5943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8abb2d1e94940" /><Relationship Type="http://schemas.openxmlformats.org/officeDocument/2006/relationships/notesSlide" Target="/ppt/notesSlides/notesSlide20.xml" Id="Re5b83b2d0a5546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01c79a0b0e460d" /><Relationship Type="http://schemas.openxmlformats.org/officeDocument/2006/relationships/notesSlide" Target="/ppt/notesSlides/notesSlide21.xml" Id="Ra2886c6fb7df49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eddf5be264e15" /><Relationship Type="http://schemas.openxmlformats.org/officeDocument/2006/relationships/notesSlide" Target="/ppt/notesSlides/notesSlide22.xml" Id="R237aa039067847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444e1d94b4232" /><Relationship Type="http://schemas.openxmlformats.org/officeDocument/2006/relationships/notesSlide" Target="/ppt/notesSlides/notesSlide23.xml" Id="R853360e0568e4c2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66ed6c3a649a3" /><Relationship Type="http://schemas.openxmlformats.org/officeDocument/2006/relationships/notesSlide" Target="/ppt/notesSlides/notesSlide24.xml" Id="Ra282b4e2f23e43b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18c7cf1694b9b" /><Relationship Type="http://schemas.openxmlformats.org/officeDocument/2006/relationships/notesSlide" Target="/ppt/notesSlides/notesSlide25.xml" Id="R979b0f0d69b042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rule">
            <a:extLst xmlns:a="http://schemas.openxmlformats.org/drawingml/2006/main">
              <a:ext uri="{FF2B5EF4-FFF2-40B4-BE49-F238E27FC236}">
                <a16:creationId xmlns:a16="http://schemas.microsoft.com/office/drawing/2014/main" id="{BF9C8BF4-286F-4E62-95B3-44043584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0575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33E15EE-B615-4391-AC7C-EA4B9C7A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5727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AI NETWORK INTRUSION DETECTION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43A8F09-DFB9-40AC-AD62-15FBA912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752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From packet to alert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79FBE6F2-0AA2-426D-87C3-4826CA46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Complete implementation, verification and simulation walkthrough</a:t>
            </a:r>
          </a:p>
        </p:txBody>
      </p:sp>
      <p:sp>
        <p:nvSpPr>
          <p:cNvPr id="5" name="cover-gold-panel">
            <a:extLst xmlns:a="http://schemas.openxmlformats.org/drawingml/2006/main">
              <a:ext uri="{FF2B5EF4-FFF2-40B4-BE49-F238E27FC236}">
                <a16:creationId xmlns:a16="http://schemas.microsoft.com/office/drawing/2014/main" id="{7CB8DB76-FCEB-4408-80AA-0A493288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ep-label">
            <a:extLst xmlns:a="http://schemas.openxmlformats.org/drawingml/2006/main">
              <a:ext uri="{FF2B5EF4-FFF2-40B4-BE49-F238E27FC236}">
                <a16:creationId xmlns:a16="http://schemas.microsoft.com/office/drawing/2014/main" id="{473302C0-9B4F-4ED3-907F-7DE499EF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33575"/>
            <a:ext cx="276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>
            <a:def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D5AD5B"/>
                </a:solidFill>
                <a:latin typeface="Cascadia Code"/>
                <a:ea typeface="Cascadia Code"/>
                <a:cs typeface="Cascadia Code"/>
              </a:rPr>
              <a:t>IMPLEMENTATION</a:t>
            </a:r>
          </a:p>
        </p:txBody>
      </p:sp>
      <p:sp>
        <p:nvSpPr>
          <p:cNvPr id="7" name="cover-step-count">
            <a:extLst xmlns:a="http://schemas.openxmlformats.org/drawingml/2006/main">
              <a:ext uri="{FF2B5EF4-FFF2-40B4-BE49-F238E27FC236}">
                <a16:creationId xmlns:a16="http://schemas.microsoft.com/office/drawing/2014/main" id="{60FF95D7-86AA-445B-9527-F16DEE3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050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20 steps</a:t>
            </a:r>
          </a:p>
        </p:txBody>
      </p:sp>
      <p:sp>
        <p:nvSpPr>
          <p:cNvPr id="8" name="cover-extra">
            <a:extLst xmlns:a="http://schemas.openxmlformats.org/drawingml/2006/main">
              <a:ext uri="{FF2B5EF4-FFF2-40B4-BE49-F238E27FC236}">
                <a16:creationId xmlns:a16="http://schemas.microsoft.com/office/drawing/2014/main" id="{EAF93722-2BED-4BD8-82EC-4787AA70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622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+ dark interface and synthetic pipeline simulation</a:t>
            </a:r>
          </a:p>
        </p:txBody>
      </p:sp>
      <p:sp>
        <p:nvSpPr>
          <p:cNvPr id="9" name="cover-date">
            <a:extLst xmlns:a="http://schemas.openxmlformats.org/drawingml/2006/main">
              <a:ext uri="{FF2B5EF4-FFF2-40B4-BE49-F238E27FC236}">
                <a16:creationId xmlns:a16="http://schemas.microsoft.com/office/drawing/2014/main" id="{F079B651-53F7-449F-A5CB-C64EDAD8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26 OCTOBER 2026</a:t>
            </a:r>
          </a:p>
        </p:txBody>
      </p:sp>
      <p:sp>
        <p:nvSpPr>
          <p:cNvPr id="10" name="cover-note">
            <a:extLst xmlns:a="http://schemas.openxmlformats.org/drawingml/2006/main">
              <a:ext uri="{FF2B5EF4-FFF2-40B4-BE49-F238E27FC236}">
                <a16:creationId xmlns:a16="http://schemas.microsoft.com/office/drawing/2014/main" id="{1CF61A84-556B-47A2-97BF-E10AE85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Synthetic evidence is labeled; research claims use real data only.</a:t>
            </a:r>
          </a:p>
        </p:txBody>
      </p:sp>
    </p:spTree>
    <p:extLst>
      <p:ext uri="{BB962C8B-B14F-4D97-AF65-F5344CB8AC3E}">
        <p14:creationId xmlns:p14="http://schemas.microsoft.com/office/powerpoint/2010/main" val="1641994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E006E54-3D5B-4A49-86A8-027DFEC6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FC9EC21-189D-4C19-851E-87EF2EB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SYSTEM VIEW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D3AF94-C2B7-49F3-BBAF-8FA1FF9F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 complete analysis path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9690FA3-BC5E-4267-8F3E-F84EFF44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The dashboard reads persisted evidence; the simulation visualizes the real detector path without a database write.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FF7E17-A906-48DD-AA64-6A55928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837E2B8-23EA-4627-ABF8-4587815D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E44BD83-4CB0-4405-ACF7-D1BC11FC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B5204F1B-3E21-44C2-A888-1C55FED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47637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9" name="stage-number-0">
            <a:extLst xmlns:a="http://schemas.openxmlformats.org/drawingml/2006/main">
              <a:ext uri="{FF2B5EF4-FFF2-40B4-BE49-F238E27FC236}">
                <a16:creationId xmlns:a16="http://schemas.microsoft.com/office/drawing/2014/main" id="{A323E7F5-79AD-49DD-9195-52C1BE51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age-name-0">
            <a:extLst xmlns:a="http://schemas.openxmlformats.org/drawingml/2006/main">
              <a:ext uri="{FF2B5EF4-FFF2-40B4-BE49-F238E27FC236}">
                <a16:creationId xmlns:a16="http://schemas.microsoft.com/office/drawing/2014/main" id="{02BC2E33-D547-48D7-8F90-C1A7D575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Packet input</a:t>
            </a:r>
          </a:p>
        </p:txBody>
      </p:sp>
      <p:sp>
        <p:nvSpPr>
          <p:cNvPr id="11" name="stage-detail-0">
            <a:extLst xmlns:a="http://schemas.openxmlformats.org/drawingml/2006/main">
              <a:ext uri="{FF2B5EF4-FFF2-40B4-BE49-F238E27FC236}">
                <a16:creationId xmlns:a16="http://schemas.microsoft.com/office/drawing/2014/main" id="{1A38E750-25A5-4BF8-9E13-0FB7698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Authorized PCAP / PCAPNG</a:t>
            </a:r>
          </a:p>
        </p:txBody>
      </p:sp>
      <p:sp>
        <p:nvSpPr>
          <p:cNvPr id="12" name="stage-arrow-0">
            <a:extLst xmlns:a="http://schemas.openxmlformats.org/drawingml/2006/main">
              <a:ext uri="{FF2B5EF4-FFF2-40B4-BE49-F238E27FC236}">
                <a16:creationId xmlns:a16="http://schemas.microsoft.com/office/drawing/2014/main" id="{021CFE2F-7BA8-4326-9F01-889A7F7E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86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38"/>
          </a:bodyPr>
          <a:lstStyle xmlns:a="http://schemas.openxmlformats.org/drawingml/2006/main">
            <a:def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AD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stage-1">
            <a:extLst xmlns:a="http://schemas.openxmlformats.org/drawingml/2006/main">
              <a:ext uri="{FF2B5EF4-FFF2-40B4-BE49-F238E27FC236}">
                <a16:creationId xmlns:a16="http://schemas.microsoft.com/office/drawing/2014/main" id="{06FBEA65-2B75-4370-BEAE-CEB0DD1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67000"/>
            <a:ext cx="147637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14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D53639E2-2499-4E7D-BDE8-C16AE72F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908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5" name="stage-name-1">
            <a:extLst xmlns:a="http://schemas.openxmlformats.org/drawingml/2006/main">
              <a:ext uri="{FF2B5EF4-FFF2-40B4-BE49-F238E27FC236}">
                <a16:creationId xmlns:a16="http://schemas.microsoft.com/office/drawing/2014/main" id="{C72FE699-E9EF-4AC3-9D32-665459E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Metadata parser</a:t>
            </a:r>
          </a:p>
        </p:txBody>
      </p:sp>
      <p:sp>
        <p:nvSpPr>
          <p:cNvPr id="16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38C9682F-C01F-49EE-9D2F-993C29AA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552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IPv4 / IPv6 · TCP / UDP</a:t>
            </a:r>
          </a:p>
        </p:txBody>
      </p:sp>
      <p:sp>
        <p:nvSpPr>
          <p:cNvPr id="17" name="stage-arrow-1">
            <a:extLst xmlns:a="http://schemas.openxmlformats.org/drawingml/2006/main">
              <a:ext uri="{FF2B5EF4-FFF2-40B4-BE49-F238E27FC236}">
                <a16:creationId xmlns:a16="http://schemas.microsoft.com/office/drawing/2014/main" id="{C1625CD1-3D43-48F7-8009-0E5952B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38"/>
          </a:bodyPr>
          <a:lstStyle xmlns:a="http://schemas.openxmlformats.org/drawingml/2006/main">
            <a:def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AD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stage-2">
            <a:extLst xmlns:a="http://schemas.openxmlformats.org/drawingml/2006/main">
              <a:ext uri="{FF2B5EF4-FFF2-40B4-BE49-F238E27FC236}">
                <a16:creationId xmlns:a16="http://schemas.microsoft.com/office/drawing/2014/main" id="{8AD66476-D6DE-4394-B0AC-57C60B4F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67000"/>
            <a:ext cx="147637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19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E3D3AF69-F4F9-441F-958F-34AF4775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908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20" name="stage-name-2">
            <a:extLst xmlns:a="http://schemas.openxmlformats.org/drawingml/2006/main">
              <a:ext uri="{FF2B5EF4-FFF2-40B4-BE49-F238E27FC236}">
                <a16:creationId xmlns:a16="http://schemas.microsoft.com/office/drawing/2014/main" id="{A77938E2-3FCD-47D1-A63C-DC743BBB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Flow builder</a:t>
            </a:r>
          </a:p>
        </p:txBody>
      </p:sp>
      <p:sp>
        <p:nvSpPr>
          <p:cNvPr id="21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18CDE85D-E82F-4EAB-868D-BCB9B3F6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52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Bidirectional counters</a:t>
            </a:r>
          </a:p>
        </p:txBody>
      </p:sp>
      <p:sp>
        <p:nvSpPr>
          <p:cNvPr id="22" name="stage-arrow-2">
            <a:extLst xmlns:a="http://schemas.openxmlformats.org/drawingml/2006/main">
              <a:ext uri="{FF2B5EF4-FFF2-40B4-BE49-F238E27FC236}">
                <a16:creationId xmlns:a16="http://schemas.microsoft.com/office/drawing/2014/main" id="{47A7636C-1395-4C32-AA00-D3A0419F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86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38"/>
          </a:bodyPr>
          <a:lstStyle xmlns:a="http://schemas.openxmlformats.org/drawingml/2006/main">
            <a:def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AD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stage-3">
            <a:extLst xmlns:a="http://schemas.openxmlformats.org/drawingml/2006/main">
              <a:ext uri="{FF2B5EF4-FFF2-40B4-BE49-F238E27FC236}">
                <a16:creationId xmlns:a16="http://schemas.microsoft.com/office/drawing/2014/main" id="{91D61E5F-1EF3-4AD1-9606-4813B54B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7000"/>
            <a:ext cx="147637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24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D5025945-3C58-48A9-BA51-03AC4CFF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908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04</a:t>
            </a:r>
          </a:p>
        </p:txBody>
      </p:sp>
      <p:sp>
        <p:nvSpPr>
          <p:cNvPr id="25" name="stage-name-3">
            <a:extLst xmlns:a="http://schemas.openxmlformats.org/drawingml/2006/main">
              <a:ext uri="{FF2B5EF4-FFF2-40B4-BE49-F238E27FC236}">
                <a16:creationId xmlns:a16="http://schemas.microsoft.com/office/drawing/2014/main" id="{5D35D459-0661-421A-BFF4-9C2BC58A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39"/>
          </a:bodyPr>
          <a:lstStyle xmlns:a="http://schemas.openxmlformats.org/drawingml/2006/main">
            <a:def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Features &amp; inference</a:t>
            </a:r>
          </a:p>
        </p:txBody>
      </p:sp>
      <p:sp>
        <p:nvSpPr>
          <p:cNvPr id="26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780D2ACF-764C-44B7-88AE-B183333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552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Versioned schema · optional model</a:t>
            </a:r>
          </a:p>
        </p:txBody>
      </p:sp>
      <p:sp>
        <p:nvSpPr>
          <p:cNvPr id="27" name="stage-arrow-3">
            <a:extLst xmlns:a="http://schemas.openxmlformats.org/drawingml/2006/main">
              <a:ext uri="{FF2B5EF4-FFF2-40B4-BE49-F238E27FC236}">
                <a16:creationId xmlns:a16="http://schemas.microsoft.com/office/drawing/2014/main" id="{0C17AA4E-3364-43CF-BA00-0B12121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38"/>
          </a:bodyPr>
          <a:lstStyle xmlns:a="http://schemas.openxmlformats.org/drawingml/2006/main">
            <a:def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AD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stage-4">
            <a:extLst xmlns:a="http://schemas.openxmlformats.org/drawingml/2006/main">
              <a:ext uri="{FF2B5EF4-FFF2-40B4-BE49-F238E27FC236}">
                <a16:creationId xmlns:a16="http://schemas.microsoft.com/office/drawing/2014/main" id="{E59B9D52-6B76-4B9E-A147-F52B99BD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67000"/>
            <a:ext cx="147637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29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D3AE083F-1120-4C6B-9048-A53076BE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908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05</a:t>
            </a:r>
          </a:p>
        </p:txBody>
      </p:sp>
      <p:sp>
        <p:nvSpPr>
          <p:cNvPr id="30" name="stage-name-4">
            <a:extLst xmlns:a="http://schemas.openxmlformats.org/drawingml/2006/main">
              <a:ext uri="{FF2B5EF4-FFF2-40B4-BE49-F238E27FC236}">
                <a16:creationId xmlns:a16="http://schemas.microsoft.com/office/drawing/2014/main" id="{9ECE79FB-401F-4151-B6A0-112678CE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Detection rules</a:t>
            </a:r>
          </a:p>
        </p:txBody>
      </p:sp>
      <p:sp>
        <p:nvSpPr>
          <p:cNvPr id="31" name="stage-detail-4">
            <a:extLst xmlns:a="http://schemas.openxmlformats.org/drawingml/2006/main">
              <a:ext uri="{FF2B5EF4-FFF2-40B4-BE49-F238E27FC236}">
                <a16:creationId xmlns:a16="http://schemas.microsoft.com/office/drawing/2014/main" id="{A3B85B70-2FCD-456D-B88F-5E728004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52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Explainable heuristic alerts</a:t>
            </a:r>
          </a:p>
        </p:txBody>
      </p:sp>
      <p:sp>
        <p:nvSpPr>
          <p:cNvPr id="32" name="stage-arrow-4">
            <a:extLst xmlns:a="http://schemas.openxmlformats.org/drawingml/2006/main">
              <a:ext uri="{FF2B5EF4-FFF2-40B4-BE49-F238E27FC236}">
                <a16:creationId xmlns:a16="http://schemas.microsoft.com/office/drawing/2014/main" id="{20FB2C24-412B-474D-9E3D-89B92DC0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86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38"/>
          </a:bodyPr>
          <a:lstStyle xmlns:a="http://schemas.openxmlformats.org/drawingml/2006/main">
            <a:def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AD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stage-5">
            <a:extLst xmlns:a="http://schemas.openxmlformats.org/drawingml/2006/main">
              <a:ext uri="{FF2B5EF4-FFF2-40B4-BE49-F238E27FC236}">
                <a16:creationId xmlns:a16="http://schemas.microsoft.com/office/drawing/2014/main" id="{EFEBABE8-6DA3-4A39-AE99-3A9B1D7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147637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34" name="stage-number-5">
            <a:extLst xmlns:a="http://schemas.openxmlformats.org/drawingml/2006/main">
              <a:ext uri="{FF2B5EF4-FFF2-40B4-BE49-F238E27FC236}">
                <a16:creationId xmlns:a16="http://schemas.microsoft.com/office/drawing/2014/main" id="{D2F39E7F-13B7-4667-82FD-B51AB1B6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908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06</a:t>
            </a:r>
          </a:p>
        </p:txBody>
      </p:sp>
      <p:sp>
        <p:nvSpPr>
          <p:cNvPr id="35" name="stage-name-5">
            <a:extLst xmlns:a="http://schemas.openxmlformats.org/drawingml/2006/main">
              <a:ext uri="{FF2B5EF4-FFF2-40B4-BE49-F238E27FC236}">
                <a16:creationId xmlns:a16="http://schemas.microsoft.com/office/drawing/2014/main" id="{15DA2CBB-5787-4DE9-8C67-B926F12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Persistence &amp; API</a:t>
            </a:r>
          </a:p>
        </p:txBody>
      </p:sp>
      <p:sp>
        <p:nvSpPr>
          <p:cNvPr id="36" name="stage-detail-5">
            <a:extLst xmlns:a="http://schemas.openxmlformats.org/drawingml/2006/main">
              <a:ext uri="{FF2B5EF4-FFF2-40B4-BE49-F238E27FC236}">
                <a16:creationId xmlns:a16="http://schemas.microsoft.com/office/drawing/2014/main" id="{80B082B0-D49D-4403-B364-53EFB926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52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PostgreSQL · auth · REST</a:t>
            </a:r>
          </a:p>
        </p:txBody>
      </p:sp>
      <p:sp>
        <p:nvSpPr>
          <p:cNvPr id="37" name="stage-arrow-5">
            <a:extLst xmlns:a="http://schemas.openxmlformats.org/drawingml/2006/main">
              <a:ext uri="{FF2B5EF4-FFF2-40B4-BE49-F238E27FC236}">
                <a16:creationId xmlns:a16="http://schemas.microsoft.com/office/drawing/2014/main" id="{F4BF8D3E-2F2E-4717-9B52-5C0AC2E5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86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38"/>
          </a:bodyPr>
          <a:lstStyle xmlns:a="http://schemas.openxmlformats.org/drawingml/2006/main">
            <a:def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5AD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AD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stage-6">
            <a:extLst xmlns:a="http://schemas.openxmlformats.org/drawingml/2006/main">
              <a:ext uri="{FF2B5EF4-FFF2-40B4-BE49-F238E27FC236}">
                <a16:creationId xmlns:a16="http://schemas.microsoft.com/office/drawing/2014/main" id="{220D93B5-422B-431E-9151-98F89B14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667000"/>
            <a:ext cx="147637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39" name="stage-number-6">
            <a:extLst xmlns:a="http://schemas.openxmlformats.org/drawingml/2006/main">
              <a:ext uri="{FF2B5EF4-FFF2-40B4-BE49-F238E27FC236}">
                <a16:creationId xmlns:a16="http://schemas.microsoft.com/office/drawing/2014/main" id="{1456EAF8-6106-4DD0-81FB-26C7206F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908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07</a:t>
            </a:r>
          </a:p>
        </p:txBody>
      </p:sp>
      <p:sp>
        <p:nvSpPr>
          <p:cNvPr id="40" name="stage-name-6">
            <a:extLst xmlns:a="http://schemas.openxmlformats.org/drawingml/2006/main">
              <a:ext uri="{FF2B5EF4-FFF2-40B4-BE49-F238E27FC236}">
                <a16:creationId xmlns:a16="http://schemas.microsoft.com/office/drawing/2014/main" id="{D5D4E7D3-C791-400D-89AB-FE168B4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41" name="stage-detail-6">
            <a:extLst xmlns:a="http://schemas.openxmlformats.org/drawingml/2006/main">
              <a:ext uri="{FF2B5EF4-FFF2-40B4-BE49-F238E27FC236}">
                <a16:creationId xmlns:a16="http://schemas.microsoft.com/office/drawing/2014/main" id="{0C815BE6-E22F-4177-B8D1-4062AF94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52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Overview · history · alerts</a:t>
            </a:r>
          </a:p>
        </p:txBody>
      </p:sp>
      <p:sp>
        <p:nvSpPr>
          <p:cNvPr id="42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7246D680-E10C-4771-BB64-F52AE906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67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Capture is an operator action. The dashboard does not collect packets by itself.</a:t>
            </a:r>
          </a:p>
        </p:txBody>
      </p:sp>
    </p:spTree>
    <p:extLst>
      <p:ext uri="{BB962C8B-B14F-4D97-AF65-F5344CB8AC3E}">
        <p14:creationId xmlns:p14="http://schemas.microsoft.com/office/powerpoint/2010/main" val="995814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88E9CEF-6F7B-4E4E-8583-2E0ABA78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0DD45C2-3C38-447A-999C-27F49672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60A3E6-B6D4-4552-A5A5-68EF5B4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01  ·  Audit and foundation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3D92454-3A1A-4F6C-B713-0B0AC8B5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18CA9C9-F7AB-4246-93EA-363387E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A3DF06F-5BDF-4A5F-9008-723B6487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5164D97-67D2-435D-B812-1D824830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8" name="step-1-mark-0">
            <a:extLst xmlns:a="http://schemas.openxmlformats.org/drawingml/2006/main">
              <a:ext uri="{FF2B5EF4-FFF2-40B4-BE49-F238E27FC236}">
                <a16:creationId xmlns:a16="http://schemas.microsoft.com/office/drawing/2014/main" id="{FB62BDDF-3C66-40D0-B0FA-F082F104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-index-0">
            <a:extLst xmlns:a="http://schemas.openxmlformats.org/drawingml/2006/main">
              <a:ext uri="{FF2B5EF4-FFF2-40B4-BE49-F238E27FC236}">
                <a16:creationId xmlns:a16="http://schemas.microsoft.com/office/drawing/2014/main" id="{27507477-C655-41F2-993F-493D20F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-text-0">
            <a:extLst xmlns:a="http://schemas.openxmlformats.org/drawingml/2006/main">
              <a:ext uri="{FF2B5EF4-FFF2-40B4-BE49-F238E27FC236}">
                <a16:creationId xmlns:a16="http://schemas.microsoft.com/office/drawing/2014/main" id="{0953D8F6-359F-4AC4-87CD-2643703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Turned the supplied build brief into a repository plan and safe defaults.</a:t>
            </a:r>
          </a:p>
        </p:txBody>
      </p:sp>
      <p:sp>
        <p:nvSpPr>
          <p:cNvPr id="11" name="step-1-mark-1">
            <a:extLst xmlns:a="http://schemas.openxmlformats.org/drawingml/2006/main">
              <a:ext uri="{FF2B5EF4-FFF2-40B4-BE49-F238E27FC236}">
                <a16:creationId xmlns:a16="http://schemas.microsoft.com/office/drawing/2014/main" id="{3F833B56-85AD-41E3-AD50-B29E6FEA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-index-1">
            <a:extLst xmlns:a="http://schemas.openxmlformats.org/drawingml/2006/main">
              <a:ext uri="{FF2B5EF4-FFF2-40B4-BE49-F238E27FC236}">
                <a16:creationId xmlns:a16="http://schemas.microsoft.com/office/drawing/2014/main" id="{390AF32E-E57E-4B4B-8AE8-5ABB0C4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-text-1">
            <a:extLst xmlns:a="http://schemas.openxmlformats.org/drawingml/2006/main">
              <a:ext uri="{FF2B5EF4-FFF2-40B4-BE49-F238E27FC236}">
                <a16:creationId xmlns:a16="http://schemas.microsoft.com/office/drawing/2014/main" id="{5C133F4A-9100-4B03-84BE-F437EFA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Initialized version control and established the GitHub checkpoint workflow.</a:t>
            </a:r>
          </a:p>
        </p:txBody>
      </p:sp>
      <p:sp>
        <p:nvSpPr>
          <p:cNvPr id="14" name="step-1-mark-2">
            <a:extLst xmlns:a="http://schemas.openxmlformats.org/drawingml/2006/main">
              <a:ext uri="{FF2B5EF4-FFF2-40B4-BE49-F238E27FC236}">
                <a16:creationId xmlns:a16="http://schemas.microsoft.com/office/drawing/2014/main" id="{CDF7473F-8534-4CDD-B809-19E8BA56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-index-2">
            <a:extLst xmlns:a="http://schemas.openxmlformats.org/drawingml/2006/main">
              <a:ext uri="{FF2B5EF4-FFF2-40B4-BE49-F238E27FC236}">
                <a16:creationId xmlns:a16="http://schemas.microsoft.com/office/drawing/2014/main" id="{0E504251-72AE-4B5F-8927-315DB9BF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-text-2">
            <a:extLst xmlns:a="http://schemas.openxmlformats.org/drawingml/2006/main">
              <a:ext uri="{FF2B5EF4-FFF2-40B4-BE49-F238E27FC236}">
                <a16:creationId xmlns:a16="http://schemas.microsoft.com/office/drawing/2014/main" id="{1AE32AB1-1EE0-4B47-A641-493B2DC2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Recorded the host, dependencies and initial operational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1047137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8DE0511-B3F0-4084-A8DA-3C1BF679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9D89748-203C-4623-8002-5DCA5C98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3F654D-EA55-4BB8-8B98-701EF4ED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02  ·  Packet ingestion and replay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9E40087-5716-4995-A46B-8A6BEC7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C22A5B3-B928-43D3-BA01-3E3F29E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DFF9A45-0A90-425F-B02B-3DF0F25D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AB9BDCE-4741-48C3-AD7B-1CBC1FE6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04</a:t>
            </a:r>
          </a:p>
        </p:txBody>
      </p:sp>
      <p:sp>
        <p:nvSpPr>
          <p:cNvPr id="8" name="step-2-mark-0">
            <a:extLst xmlns:a="http://schemas.openxmlformats.org/drawingml/2006/main">
              <a:ext uri="{FF2B5EF4-FFF2-40B4-BE49-F238E27FC236}">
                <a16:creationId xmlns:a16="http://schemas.microsoft.com/office/drawing/2014/main" id="{80602A4A-A68C-4D34-9BEA-3BFC4926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2-index-0">
            <a:extLst xmlns:a="http://schemas.openxmlformats.org/drawingml/2006/main">
              <a:ext uri="{FF2B5EF4-FFF2-40B4-BE49-F238E27FC236}">
                <a16:creationId xmlns:a16="http://schemas.microsoft.com/office/drawing/2014/main" id="{C6C61A7D-411E-40F8-9082-F0C102EA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2-text-0">
            <a:extLst xmlns:a="http://schemas.openxmlformats.org/drawingml/2006/main">
              <a:ext uri="{FF2B5EF4-FFF2-40B4-BE49-F238E27FC236}">
                <a16:creationId xmlns:a16="http://schemas.microsoft.com/office/drawing/2014/main" id="{C490A33D-DA0A-4F4D-93C4-FF868AE9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Parsed packet metadata without retaining payload bytes.</a:t>
            </a:r>
          </a:p>
        </p:txBody>
      </p:sp>
      <p:sp>
        <p:nvSpPr>
          <p:cNvPr id="11" name="step-2-mark-1">
            <a:extLst xmlns:a="http://schemas.openxmlformats.org/drawingml/2006/main">
              <a:ext uri="{FF2B5EF4-FFF2-40B4-BE49-F238E27FC236}">
                <a16:creationId xmlns:a16="http://schemas.microsoft.com/office/drawing/2014/main" id="{E49CF955-564A-4576-B01E-2D198965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2-index-1">
            <a:extLst xmlns:a="http://schemas.openxmlformats.org/drawingml/2006/main">
              <a:ext uri="{FF2B5EF4-FFF2-40B4-BE49-F238E27FC236}">
                <a16:creationId xmlns:a16="http://schemas.microsoft.com/office/drawing/2014/main" id="{E4957AD5-8785-469F-B11F-F8C7AA9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2-text-1">
            <a:extLst xmlns:a="http://schemas.openxmlformats.org/drawingml/2006/main">
              <a:ext uri="{FF2B5EF4-FFF2-40B4-BE49-F238E27FC236}">
                <a16:creationId xmlns:a16="http://schemas.microsoft.com/office/drawing/2014/main" id="{624E32B0-291A-4AEF-B8E5-32C0C046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streaming PCAP/PCAPNG replay, filters and structured run output.</a:t>
            </a:r>
          </a:p>
        </p:txBody>
      </p:sp>
      <p:sp>
        <p:nvSpPr>
          <p:cNvPr id="14" name="step-2-mark-2">
            <a:extLst xmlns:a="http://schemas.openxmlformats.org/drawingml/2006/main">
              <a:ext uri="{FF2B5EF4-FFF2-40B4-BE49-F238E27FC236}">
                <a16:creationId xmlns:a16="http://schemas.microsoft.com/office/drawing/2014/main" id="{154FA5C7-FAB8-4D41-8595-41BCF6E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2-index-2">
            <a:extLst xmlns:a="http://schemas.openxmlformats.org/drawingml/2006/main">
              <a:ext uri="{FF2B5EF4-FFF2-40B4-BE49-F238E27FC236}">
                <a16:creationId xmlns:a16="http://schemas.microsoft.com/office/drawing/2014/main" id="{A9E59C98-ED77-4C1F-81F3-56B191B5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2-text-2">
            <a:extLst xmlns:a="http://schemas.openxmlformats.org/drawingml/2006/main">
              <a:ext uri="{FF2B5EF4-FFF2-40B4-BE49-F238E27FC236}">
                <a16:creationId xmlns:a16="http://schemas.microsoft.com/office/drawing/2014/main" id="{2B8FE6ED-C957-4148-8B7E-179D4CFC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Kept live capture opt-in and explicitly tied to an interface.</a:t>
            </a:r>
          </a:p>
        </p:txBody>
      </p:sp>
    </p:spTree>
    <p:extLst>
      <p:ext uri="{BB962C8B-B14F-4D97-AF65-F5344CB8AC3E}">
        <p14:creationId xmlns:p14="http://schemas.microsoft.com/office/powerpoint/2010/main" val="1502183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A13B111-89AD-454F-AF4F-949BF74B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1810B17-48DB-41C3-9024-3522291F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4A9D6-AC1F-4F2F-8C1D-180C5790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03  ·  Bidirectional flows and features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632B619-BF17-4948-B3DF-B91251D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318F486-85A3-4429-9B29-BB99C30F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95E8E04-0412-432C-9EFA-A66D7ED2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9255A4B-3005-45DA-9225-9195FEEF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05</a:t>
            </a:r>
          </a:p>
        </p:txBody>
      </p:sp>
      <p:sp>
        <p:nvSpPr>
          <p:cNvPr id="8" name="step-3-mark-0">
            <a:extLst xmlns:a="http://schemas.openxmlformats.org/drawingml/2006/main">
              <a:ext uri="{FF2B5EF4-FFF2-40B4-BE49-F238E27FC236}">
                <a16:creationId xmlns:a16="http://schemas.microsoft.com/office/drawing/2014/main" id="{14250567-76EF-4557-960B-60283A79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3-index-0">
            <a:extLst xmlns:a="http://schemas.openxmlformats.org/drawingml/2006/main">
              <a:ext uri="{FF2B5EF4-FFF2-40B4-BE49-F238E27FC236}">
                <a16:creationId xmlns:a16="http://schemas.microsoft.com/office/drawing/2014/main" id="{1A7918FC-6A7A-48BD-8F14-6A44374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3-text-0">
            <a:extLst xmlns:a="http://schemas.openxmlformats.org/drawingml/2006/main">
              <a:ext uri="{FF2B5EF4-FFF2-40B4-BE49-F238E27FC236}">
                <a16:creationId xmlns:a16="http://schemas.microsoft.com/office/drawing/2014/main" id="{18063B75-2C10-42A2-9F70-C0B65540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Aggregated packets into bounded bidirectional flows with event-time expiry.</a:t>
            </a:r>
          </a:p>
        </p:txBody>
      </p:sp>
      <p:sp>
        <p:nvSpPr>
          <p:cNvPr id="11" name="step-3-mark-1">
            <a:extLst xmlns:a="http://schemas.openxmlformats.org/drawingml/2006/main">
              <a:ext uri="{FF2B5EF4-FFF2-40B4-BE49-F238E27FC236}">
                <a16:creationId xmlns:a16="http://schemas.microsoft.com/office/drawing/2014/main" id="{D64F092A-405C-4723-97D0-6AF3814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3-index-1">
            <a:extLst xmlns:a="http://schemas.openxmlformats.org/drawingml/2006/main">
              <a:ext uri="{FF2B5EF4-FFF2-40B4-BE49-F238E27FC236}">
                <a16:creationId xmlns:a16="http://schemas.microsoft.com/office/drawing/2014/main" id="{0BBE1D8E-DC6D-4229-9143-D17299FD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3-text-1">
            <a:extLst xmlns:a="http://schemas.openxmlformats.org/drawingml/2006/main">
              <a:ext uri="{FF2B5EF4-FFF2-40B4-BE49-F238E27FC236}">
                <a16:creationId xmlns:a16="http://schemas.microsoft.com/office/drawing/2014/main" id="{154AE799-7C92-4A52-86CB-F4529495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Recorded directional packet, byte, size and TCP-flag counters.</a:t>
            </a:r>
          </a:p>
        </p:txBody>
      </p:sp>
      <p:sp>
        <p:nvSpPr>
          <p:cNvPr id="14" name="step-3-mark-2">
            <a:extLst xmlns:a="http://schemas.openxmlformats.org/drawingml/2006/main">
              <a:ext uri="{FF2B5EF4-FFF2-40B4-BE49-F238E27FC236}">
                <a16:creationId xmlns:a16="http://schemas.microsoft.com/office/drawing/2014/main" id="{CF6A3A7F-2D62-4DC8-8967-265EEC53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3-index-2">
            <a:extLst xmlns:a="http://schemas.openxmlformats.org/drawingml/2006/main">
              <a:ext uri="{FF2B5EF4-FFF2-40B4-BE49-F238E27FC236}">
                <a16:creationId xmlns:a16="http://schemas.microsoft.com/office/drawing/2014/main" id="{B82E45A3-EDE6-4908-801D-D615B89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3-text-2">
            <a:extLst xmlns:a="http://schemas.openxmlformats.org/drawingml/2006/main">
              <a:ext uri="{FF2B5EF4-FFF2-40B4-BE49-F238E27FC236}">
                <a16:creationId xmlns:a16="http://schemas.microsoft.com/office/drawing/2014/main" id="{23E4E602-4C23-4C93-A044-BB31F16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Defined and documented the ordered feature schema version 1.0.</a:t>
            </a:r>
          </a:p>
        </p:txBody>
      </p:sp>
    </p:spTree>
    <p:extLst>
      <p:ext uri="{BB962C8B-B14F-4D97-AF65-F5344CB8AC3E}">
        <p14:creationId xmlns:p14="http://schemas.microsoft.com/office/powerpoint/2010/main" val="1927175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0276075-8A42-43AA-ACD4-9A5F13FE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3413006-E48E-4F5E-817A-80DD6C74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AC63D7-4A49-476D-99E6-7AB2EA5E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04  ·  Dataset preparation and evaluation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8062310-7990-4645-8748-E7B4F3C6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2B6F07B-B36E-4ADA-8BCE-6112B1D4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B55D62E-255B-4B3E-9D78-B14B3774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97E80A4-11A3-4F5A-8B73-AF6767E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06</a:t>
            </a:r>
          </a:p>
        </p:txBody>
      </p:sp>
      <p:sp>
        <p:nvSpPr>
          <p:cNvPr id="8" name="step-4-mark-0">
            <a:extLst xmlns:a="http://schemas.openxmlformats.org/drawingml/2006/main">
              <a:ext uri="{FF2B5EF4-FFF2-40B4-BE49-F238E27FC236}">
                <a16:creationId xmlns:a16="http://schemas.microsoft.com/office/drawing/2014/main" id="{47163B7B-EEBF-4B06-93B2-D94A6D1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4-index-0">
            <a:extLst xmlns:a="http://schemas.openxmlformats.org/drawingml/2006/main">
              <a:ext uri="{FF2B5EF4-FFF2-40B4-BE49-F238E27FC236}">
                <a16:creationId xmlns:a16="http://schemas.microsoft.com/office/drawing/2014/main" id="{AB91B9B7-EE9E-4823-8790-BC8855A6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4-text-0">
            <a:extLst xmlns:a="http://schemas.openxmlformats.org/drawingml/2006/main">
              <a:ext uri="{FF2B5EF4-FFF2-40B4-BE49-F238E27FC236}">
                <a16:creationId xmlns:a16="http://schemas.microsoft.com/office/drawing/2014/main" id="{1C0B80FC-4361-4D70-91C9-982CA5E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Exported features through the same flow builder used at inference.</a:t>
            </a:r>
          </a:p>
        </p:txBody>
      </p:sp>
      <p:sp>
        <p:nvSpPr>
          <p:cNvPr id="11" name="step-4-mark-1">
            <a:extLst xmlns:a="http://schemas.openxmlformats.org/drawingml/2006/main">
              <a:ext uri="{FF2B5EF4-FFF2-40B4-BE49-F238E27FC236}">
                <a16:creationId xmlns:a16="http://schemas.microsoft.com/office/drawing/2014/main" id="{2AA4A5AE-455E-40BA-8203-95BAB71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4-index-1">
            <a:extLst xmlns:a="http://schemas.openxmlformats.org/drawingml/2006/main">
              <a:ext uri="{FF2B5EF4-FFF2-40B4-BE49-F238E27FC236}">
                <a16:creationId xmlns:a16="http://schemas.microsoft.com/office/drawing/2014/main" id="{C89FD74A-0EF2-4B7A-AEA6-5E436AA7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4-text-1">
            <a:extLst xmlns:a="http://schemas.openxmlformats.org/drawingml/2006/main">
              <a:ext uri="{FF2B5EF4-FFF2-40B4-BE49-F238E27FC236}">
                <a16:creationId xmlns:a16="http://schemas.microsoft.com/office/drawing/2014/main" id="{FA854DB2-9A8B-4947-A291-C0F06CFB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provenance, strict validation and capture-group separation.</a:t>
            </a:r>
          </a:p>
        </p:txBody>
      </p:sp>
      <p:sp>
        <p:nvSpPr>
          <p:cNvPr id="14" name="step-4-mark-2">
            <a:extLst xmlns:a="http://schemas.openxmlformats.org/drawingml/2006/main">
              <a:ext uri="{FF2B5EF4-FFF2-40B4-BE49-F238E27FC236}">
                <a16:creationId xmlns:a16="http://schemas.microsoft.com/office/drawing/2014/main" id="{3A164EF5-8CA3-4B30-BEBA-51ACAF24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-index-2">
            <a:extLst xmlns:a="http://schemas.openxmlformats.org/drawingml/2006/main">
              <a:ext uri="{FF2B5EF4-FFF2-40B4-BE49-F238E27FC236}">
                <a16:creationId xmlns:a16="http://schemas.microsoft.com/office/drawing/2014/main" id="{010A22FB-9B58-4903-BE7F-E02C07C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4-text-2">
            <a:extLst xmlns:a="http://schemas.openxmlformats.org/drawingml/2006/main">
              <a:ext uri="{FF2B5EF4-FFF2-40B4-BE49-F238E27FC236}">
                <a16:creationId xmlns:a16="http://schemas.microsoft.com/office/drawing/2014/main" id="{B798AA87-5DB2-4815-9D84-59B57E7B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Implemented train/validation/test evaluation with held-out groups.</a:t>
            </a:r>
          </a:p>
        </p:txBody>
      </p:sp>
    </p:spTree>
    <p:extLst>
      <p:ext uri="{BB962C8B-B14F-4D97-AF65-F5344CB8AC3E}">
        <p14:creationId xmlns:p14="http://schemas.microsoft.com/office/powerpoint/2010/main" val="1166174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B47671E-86C9-478F-9719-D487E817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332D509-A9D4-4C1B-91D8-16387BED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D3A3BE-A96A-4BAE-8B5A-9A023C88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05  ·  Inference and explainable alerts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B9EA2B0-406C-499B-9758-3D4B5AD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04E271D-C758-4C59-B4F2-A6A7CF7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52C86DB-D508-4CBC-9A40-723A08DA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BBE129C-F210-4B39-A804-56DAE2DE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07</a:t>
            </a:r>
          </a:p>
        </p:txBody>
      </p:sp>
      <p:sp>
        <p:nvSpPr>
          <p:cNvPr id="8" name="step-5-mark-0">
            <a:extLst xmlns:a="http://schemas.openxmlformats.org/drawingml/2006/main">
              <a:ext uri="{FF2B5EF4-FFF2-40B4-BE49-F238E27FC236}">
                <a16:creationId xmlns:a16="http://schemas.microsoft.com/office/drawing/2014/main" id="{9FD3687E-8D96-40C8-A187-6FCBF59D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5-index-0">
            <a:extLst xmlns:a="http://schemas.openxmlformats.org/drawingml/2006/main">
              <a:ext uri="{FF2B5EF4-FFF2-40B4-BE49-F238E27FC236}">
                <a16:creationId xmlns:a16="http://schemas.microsoft.com/office/drawing/2014/main" id="{C734ADA1-1262-4392-99D6-C03C03F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5-text-0">
            <a:extLst xmlns:a="http://schemas.openxmlformats.org/drawingml/2006/main">
              <a:ext uri="{FF2B5EF4-FFF2-40B4-BE49-F238E27FC236}">
                <a16:creationId xmlns:a16="http://schemas.microsoft.com/office/drawing/2014/main" id="{16B666AB-CE8C-4291-9886-9E6EC839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Validated model metadata, checksum, schema and runtime before inference.</a:t>
            </a:r>
          </a:p>
        </p:txBody>
      </p:sp>
      <p:sp>
        <p:nvSpPr>
          <p:cNvPr id="11" name="step-5-mark-1">
            <a:extLst xmlns:a="http://schemas.openxmlformats.org/drawingml/2006/main">
              <a:ext uri="{FF2B5EF4-FFF2-40B4-BE49-F238E27FC236}">
                <a16:creationId xmlns:a16="http://schemas.microsoft.com/office/drawing/2014/main" id="{1A46C521-E41B-4229-91DF-2AA52E15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5-index-1">
            <a:extLst xmlns:a="http://schemas.openxmlformats.org/drawingml/2006/main">
              <a:ext uri="{FF2B5EF4-FFF2-40B4-BE49-F238E27FC236}">
                <a16:creationId xmlns:a16="http://schemas.microsoft.com/office/drawing/2014/main" id="{6DAB1C36-5FD3-4F04-99CF-BC68BD7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5-text-1">
            <a:extLst xmlns:a="http://schemas.openxmlformats.org/drawingml/2006/main">
              <a:ext uri="{FF2B5EF4-FFF2-40B4-BE49-F238E27FC236}">
                <a16:creationId xmlns:a16="http://schemas.microsoft.com/office/drawing/2014/main" id="{39CB24DD-22B9-42AD-B41A-4DF0736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Kept an explicit rule-only mode when no trusted model is present.</a:t>
            </a:r>
          </a:p>
        </p:txBody>
      </p:sp>
      <p:sp>
        <p:nvSpPr>
          <p:cNvPr id="14" name="step-5-mark-2">
            <a:extLst xmlns:a="http://schemas.openxmlformats.org/drawingml/2006/main">
              <a:ext uri="{FF2B5EF4-FFF2-40B4-BE49-F238E27FC236}">
                <a16:creationId xmlns:a16="http://schemas.microsoft.com/office/drawing/2014/main" id="{8457D4FB-429A-4C92-A00B-F427E3E3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5-index-2">
            <a:extLst xmlns:a="http://schemas.openxmlformats.org/drawingml/2006/main">
              <a:ext uri="{FF2B5EF4-FFF2-40B4-BE49-F238E27FC236}">
                <a16:creationId xmlns:a16="http://schemas.microsoft.com/office/drawing/2014/main" id="{261C853B-599A-4256-A1C4-551A44FE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5-text-2">
            <a:extLst xmlns:a="http://schemas.openxmlformats.org/drawingml/2006/main">
              <a:ext uri="{FF2B5EF4-FFF2-40B4-BE49-F238E27FC236}">
                <a16:creationId xmlns:a16="http://schemas.microsoft.com/office/drawing/2014/main" id="{F78FDED9-7A5B-4638-9F21-C168BADC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SYN-burst and high-rate alerts with evidence and deduplication.</a:t>
            </a:r>
          </a:p>
        </p:txBody>
      </p:sp>
    </p:spTree>
    <p:extLst>
      <p:ext uri="{BB962C8B-B14F-4D97-AF65-F5344CB8AC3E}">
        <p14:creationId xmlns:p14="http://schemas.microsoft.com/office/powerpoint/2010/main" val="946794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BE80FAD-FE44-4F41-88FE-8A9F7FEB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79362E5-15B7-4B82-9734-D18367D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30C216-9FBA-481D-A7D0-0334D1CA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06  ·  Persistence and REST API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2079422-3874-4C73-A854-146761BC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6D8CAD-918B-4A93-9CD3-01D8E242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1207109-AFA3-4760-9364-93F123AE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69F7FBA-F386-479D-93F1-1DB28911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08</a:t>
            </a:r>
          </a:p>
        </p:txBody>
      </p:sp>
      <p:sp>
        <p:nvSpPr>
          <p:cNvPr id="8" name="step-6-mark-0">
            <a:extLst xmlns:a="http://schemas.openxmlformats.org/drawingml/2006/main">
              <a:ext uri="{FF2B5EF4-FFF2-40B4-BE49-F238E27FC236}">
                <a16:creationId xmlns:a16="http://schemas.microsoft.com/office/drawing/2014/main" id="{968BC7EB-4D9A-4C41-9B61-9F4ACA37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6-index-0">
            <a:extLst xmlns:a="http://schemas.openxmlformats.org/drawingml/2006/main">
              <a:ext uri="{FF2B5EF4-FFF2-40B4-BE49-F238E27FC236}">
                <a16:creationId xmlns:a16="http://schemas.microsoft.com/office/drawing/2014/main" id="{954E178F-73F7-4D13-9B62-9D3E8402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6-text-0">
            <a:extLst xmlns:a="http://schemas.openxmlformats.org/drawingml/2006/main">
              <a:ext uri="{FF2B5EF4-FFF2-40B4-BE49-F238E27FC236}">
                <a16:creationId xmlns:a16="http://schemas.microsoft.com/office/drawing/2014/main" id="{92EED296-F659-4B34-8361-1B953108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PostgreSQL schema and migrations for pipeline observations.</a:t>
            </a:r>
          </a:p>
        </p:txBody>
      </p:sp>
      <p:sp>
        <p:nvSpPr>
          <p:cNvPr id="11" name="step-6-mark-1">
            <a:extLst xmlns:a="http://schemas.openxmlformats.org/drawingml/2006/main">
              <a:ext uri="{FF2B5EF4-FFF2-40B4-BE49-F238E27FC236}">
                <a16:creationId xmlns:a16="http://schemas.microsoft.com/office/drawing/2014/main" id="{740A4994-398D-4193-B4B6-B755EF16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6-index-1">
            <a:extLst xmlns:a="http://schemas.openxmlformats.org/drawingml/2006/main">
              <a:ext uri="{FF2B5EF4-FFF2-40B4-BE49-F238E27FC236}">
                <a16:creationId xmlns:a16="http://schemas.microsoft.com/office/drawing/2014/main" id="{ECD9C1C8-341D-441C-9A22-B7148B32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6-text-1">
            <a:extLst xmlns:a="http://schemas.openxmlformats.org/drawingml/2006/main">
              <a:ext uri="{FF2B5EF4-FFF2-40B4-BE49-F238E27FC236}">
                <a16:creationId xmlns:a16="http://schemas.microsoft.com/office/drawing/2014/main" id="{39597E7F-275A-4060-86BA-40EA9D5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Persisted flow, prediction and alert records transactionally.</a:t>
            </a:r>
          </a:p>
        </p:txBody>
      </p:sp>
      <p:sp>
        <p:nvSpPr>
          <p:cNvPr id="14" name="step-6-mark-2">
            <a:extLst xmlns:a="http://schemas.openxmlformats.org/drawingml/2006/main">
              <a:ext uri="{FF2B5EF4-FFF2-40B4-BE49-F238E27FC236}">
                <a16:creationId xmlns:a16="http://schemas.microsoft.com/office/drawing/2014/main" id="{15328F97-9F55-4E43-B1F2-081DDAC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6-index-2">
            <a:extLst xmlns:a="http://schemas.openxmlformats.org/drawingml/2006/main">
              <a:ext uri="{FF2B5EF4-FFF2-40B4-BE49-F238E27FC236}">
                <a16:creationId xmlns:a16="http://schemas.microsoft.com/office/drawing/2014/main" id="{CD923A71-4B7E-47C4-8BEE-31FDF33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6-text-2">
            <a:extLst xmlns:a="http://schemas.openxmlformats.org/drawingml/2006/main">
              <a:ext uri="{FF2B5EF4-FFF2-40B4-BE49-F238E27FC236}">
                <a16:creationId xmlns:a16="http://schemas.microsoft.com/office/drawing/2014/main" id="{BB3F2F28-AE2E-425E-86DD-0B3517B9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Exposed validated authenticated resources with pagination.</a:t>
            </a:r>
          </a:p>
        </p:txBody>
      </p:sp>
    </p:spTree>
    <p:extLst>
      <p:ext uri="{BB962C8B-B14F-4D97-AF65-F5344CB8AC3E}">
        <p14:creationId xmlns:p14="http://schemas.microsoft.com/office/powerpoint/2010/main" val="1453058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0606D47-1599-4098-AC38-9BBE6252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8D032E8-E3B2-4441-9DC0-8F6F6AC3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7F1918-E152-4091-BD8C-155A6976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07  ·  WebSockets and access control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7B287A1-2CD5-495C-9B79-8F4FF715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C1AE5D7-A584-4A67-94F0-D20CEFF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321E94C-91BD-4A6E-B404-B8DA6FE9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B1EB21C-5317-4513-B1EC-26148144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09</a:t>
            </a:r>
          </a:p>
        </p:txBody>
      </p:sp>
      <p:sp>
        <p:nvSpPr>
          <p:cNvPr id="8" name="step-7-mark-0">
            <a:extLst xmlns:a="http://schemas.openxmlformats.org/drawingml/2006/main">
              <a:ext uri="{FF2B5EF4-FFF2-40B4-BE49-F238E27FC236}">
                <a16:creationId xmlns:a16="http://schemas.microsoft.com/office/drawing/2014/main" id="{FE3761BC-EA0C-426E-B528-C5C65110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7-index-0">
            <a:extLst xmlns:a="http://schemas.openxmlformats.org/drawingml/2006/main">
              <a:ext uri="{FF2B5EF4-FFF2-40B4-BE49-F238E27FC236}">
                <a16:creationId xmlns:a16="http://schemas.microsoft.com/office/drawing/2014/main" id="{399D8C41-5C5D-4D34-BAC4-28D46942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7-text-0">
            <a:extLst xmlns:a="http://schemas.openxmlformats.org/drawingml/2006/main">
              <a:ext uri="{FF2B5EF4-FFF2-40B4-BE49-F238E27FC236}">
                <a16:creationId xmlns:a16="http://schemas.microsoft.com/office/drawing/2014/main" id="{A68C9E4A-CB31-4A48-BD7D-CCC1DAAB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access and refresh sessions with analyst/viewer/admin roles.</a:t>
            </a:r>
          </a:p>
        </p:txBody>
      </p:sp>
      <p:sp>
        <p:nvSpPr>
          <p:cNvPr id="11" name="step-7-mark-1">
            <a:extLst xmlns:a="http://schemas.openxmlformats.org/drawingml/2006/main">
              <a:ext uri="{FF2B5EF4-FFF2-40B4-BE49-F238E27FC236}">
                <a16:creationId xmlns:a16="http://schemas.microsoft.com/office/drawing/2014/main" id="{C4855C9C-6CD7-49AC-B451-DCEDD7A7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7-index-1">
            <a:extLst xmlns:a="http://schemas.openxmlformats.org/drawingml/2006/main">
              <a:ext uri="{FF2B5EF4-FFF2-40B4-BE49-F238E27FC236}">
                <a16:creationId xmlns:a16="http://schemas.microsoft.com/office/drawing/2014/main" id="{3D800DF9-F6C6-4EF6-BF83-8623A87F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7-text-1">
            <a:extLst xmlns:a="http://schemas.openxmlformats.org/drawingml/2006/main">
              <a:ext uri="{FF2B5EF4-FFF2-40B4-BE49-F238E27FC236}">
                <a16:creationId xmlns:a16="http://schemas.microsoft.com/office/drawing/2014/main" id="{8E62EFC0-79D8-406B-9960-BD5E9F93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Protected alert acknowledgement and administrative operations.</a:t>
            </a:r>
          </a:p>
        </p:txBody>
      </p:sp>
      <p:sp>
        <p:nvSpPr>
          <p:cNvPr id="14" name="step-7-mark-2">
            <a:extLst xmlns:a="http://schemas.openxmlformats.org/drawingml/2006/main">
              <a:ext uri="{FF2B5EF4-FFF2-40B4-BE49-F238E27FC236}">
                <a16:creationId xmlns:a16="http://schemas.microsoft.com/office/drawing/2014/main" id="{CFA7752F-21CC-4A00-9751-199E0D8E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7-index-2">
            <a:extLst xmlns:a="http://schemas.openxmlformats.org/drawingml/2006/main">
              <a:ext uri="{FF2B5EF4-FFF2-40B4-BE49-F238E27FC236}">
                <a16:creationId xmlns:a16="http://schemas.microsoft.com/office/drawing/2014/main" id="{32E31B9E-AA26-43B2-817E-C192A405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7-text-2">
            <a:extLst xmlns:a="http://schemas.openxmlformats.org/drawingml/2006/main">
              <a:ext uri="{FF2B5EF4-FFF2-40B4-BE49-F238E27FC236}">
                <a16:creationId xmlns:a16="http://schemas.microsoft.com/office/drawing/2014/main" id="{2E2D7692-3BFD-4FA9-99B2-CD25B10F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Streamed authenticated alerts and recorded audit events.</a:t>
            </a:r>
          </a:p>
        </p:txBody>
      </p:sp>
    </p:spTree>
    <p:extLst>
      <p:ext uri="{BB962C8B-B14F-4D97-AF65-F5344CB8AC3E}">
        <p14:creationId xmlns:p14="http://schemas.microsoft.com/office/powerpoint/2010/main" val="315288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E0BC4D3-3F72-4504-ABEB-D22EC3C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C6918D0-1BF1-4C07-9411-A49FB090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8769E9-1ABF-4B54-B000-C6165AD7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08  ·  Authenticated dashboard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3C14667-FA9B-4494-A03E-CE3633D2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D93CE18-DEEF-40C2-BC90-E7704F8D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BE12702-33CC-45EE-901E-ADEE3316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44FEC23-550F-4256-A9EA-E2426FCE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10</a:t>
            </a:r>
          </a:p>
        </p:txBody>
      </p:sp>
      <p:sp>
        <p:nvSpPr>
          <p:cNvPr id="8" name="step-8-mark-0">
            <a:extLst xmlns:a="http://schemas.openxmlformats.org/drawingml/2006/main">
              <a:ext uri="{FF2B5EF4-FFF2-40B4-BE49-F238E27FC236}">
                <a16:creationId xmlns:a16="http://schemas.microsoft.com/office/drawing/2014/main" id="{E5CB452B-B074-42B4-9CBE-47EE51A0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8-index-0">
            <a:extLst xmlns:a="http://schemas.openxmlformats.org/drawingml/2006/main">
              <a:ext uri="{FF2B5EF4-FFF2-40B4-BE49-F238E27FC236}">
                <a16:creationId xmlns:a16="http://schemas.microsoft.com/office/drawing/2014/main" id="{18BAC392-FF2E-4926-80AE-05D857E2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8-text-0">
            <a:extLst xmlns:a="http://schemas.openxmlformats.org/drawingml/2006/main">
              <a:ext uri="{FF2B5EF4-FFF2-40B4-BE49-F238E27FC236}">
                <a16:creationId xmlns:a16="http://schemas.microsoft.com/office/drawing/2014/main" id="{28DD2551-BF5A-4369-8ABD-0DBC7758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Built sign-in, alert and flow investigation screens in React.</a:t>
            </a:r>
          </a:p>
        </p:txBody>
      </p:sp>
      <p:sp>
        <p:nvSpPr>
          <p:cNvPr id="11" name="step-8-mark-1">
            <a:extLst xmlns:a="http://schemas.openxmlformats.org/drawingml/2006/main">
              <a:ext uri="{FF2B5EF4-FFF2-40B4-BE49-F238E27FC236}">
                <a16:creationId xmlns:a16="http://schemas.microsoft.com/office/drawing/2014/main" id="{27BCBA5D-7F47-4B7B-BB26-38DC11FC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8-index-1">
            <a:extLst xmlns:a="http://schemas.openxmlformats.org/drawingml/2006/main">
              <a:ext uri="{FF2B5EF4-FFF2-40B4-BE49-F238E27FC236}">
                <a16:creationId xmlns:a16="http://schemas.microsoft.com/office/drawing/2014/main" id="{F6DDD564-0058-4EA9-8B9A-87458C3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8-text-1">
            <a:extLst xmlns:a="http://schemas.openxmlformats.org/drawingml/2006/main">
              <a:ext uri="{FF2B5EF4-FFF2-40B4-BE49-F238E27FC236}">
                <a16:creationId xmlns:a16="http://schemas.microsoft.com/office/drawing/2014/main" id="{EEE1D9C2-BD2B-45A8-90DA-2D631B8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URL-backed filters, pagination, responsive views and status states.</a:t>
            </a:r>
          </a:p>
        </p:txBody>
      </p:sp>
      <p:sp>
        <p:nvSpPr>
          <p:cNvPr id="14" name="step-8-mark-2">
            <a:extLst xmlns:a="http://schemas.openxmlformats.org/drawingml/2006/main">
              <a:ext uri="{FF2B5EF4-FFF2-40B4-BE49-F238E27FC236}">
                <a16:creationId xmlns:a16="http://schemas.microsoft.com/office/drawing/2014/main" id="{94937FF9-2BBA-4DAD-A92F-F4D01B70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8-index-2">
            <a:extLst xmlns:a="http://schemas.openxmlformats.org/drawingml/2006/main">
              <a:ext uri="{FF2B5EF4-FFF2-40B4-BE49-F238E27FC236}">
                <a16:creationId xmlns:a16="http://schemas.microsoft.com/office/drawing/2014/main" id="{A82FCDD9-BBA2-43AD-92F5-FE8DD5B6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8-text-2">
            <a:extLst xmlns:a="http://schemas.openxmlformats.org/drawingml/2006/main">
              <a:ext uri="{FF2B5EF4-FFF2-40B4-BE49-F238E27FC236}">
                <a16:creationId xmlns:a16="http://schemas.microsoft.com/office/drawing/2014/main" id="{27401EB1-84A7-46EF-AC4A-905A773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Kept session tokens in memory and enforced role-aware controls.</a:t>
            </a:r>
          </a:p>
        </p:txBody>
      </p:sp>
    </p:spTree>
    <p:extLst>
      <p:ext uri="{BB962C8B-B14F-4D97-AF65-F5344CB8AC3E}">
        <p14:creationId xmlns:p14="http://schemas.microsoft.com/office/powerpoint/2010/main" val="6315191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054ADD1-3146-4638-98B9-6114BCA4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A8B796A-FF06-40C4-B4F9-5737A841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10C946-3665-4673-882B-73112B7D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09  ·  Reproducible operation and handoff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8DE2A53-315E-4876-88A8-6651C3D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792664-8BC3-4DBE-8051-7C4ABE9B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B75B9D9-52F7-4C8F-818E-57D02864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6B43635-3918-4E46-ADE4-04BE1DA3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11</a:t>
            </a:r>
          </a:p>
        </p:txBody>
      </p:sp>
      <p:sp>
        <p:nvSpPr>
          <p:cNvPr id="8" name="step-9-mark-0">
            <a:extLst xmlns:a="http://schemas.openxmlformats.org/drawingml/2006/main">
              <a:ext uri="{FF2B5EF4-FFF2-40B4-BE49-F238E27FC236}">
                <a16:creationId xmlns:a16="http://schemas.microsoft.com/office/drawing/2014/main" id="{64C2F0D3-EF8A-4271-8E71-58A3FA4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9-index-0">
            <a:extLst xmlns:a="http://schemas.openxmlformats.org/drawingml/2006/main">
              <a:ext uri="{FF2B5EF4-FFF2-40B4-BE49-F238E27FC236}">
                <a16:creationId xmlns:a16="http://schemas.microsoft.com/office/drawing/2014/main" id="{30705116-AB81-433E-A26B-F5F47E7E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9-text-0">
            <a:extLst xmlns:a="http://schemas.openxmlformats.org/drawingml/2006/main">
              <a:ext uri="{FF2B5EF4-FFF2-40B4-BE49-F238E27FC236}">
                <a16:creationId xmlns:a16="http://schemas.microsoft.com/office/drawing/2014/main" id="{194F5F27-95B6-457D-AF22-409BF48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Defined PostgreSQL, API, dashboard and optional monitor in Compose.</a:t>
            </a:r>
          </a:p>
        </p:txBody>
      </p:sp>
      <p:sp>
        <p:nvSpPr>
          <p:cNvPr id="11" name="step-9-mark-1">
            <a:extLst xmlns:a="http://schemas.openxmlformats.org/drawingml/2006/main">
              <a:ext uri="{FF2B5EF4-FFF2-40B4-BE49-F238E27FC236}">
                <a16:creationId xmlns:a16="http://schemas.microsoft.com/office/drawing/2014/main" id="{71D92498-6317-4237-AB9B-7F9547CB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9-index-1">
            <a:extLst xmlns:a="http://schemas.openxmlformats.org/drawingml/2006/main">
              <a:ext uri="{FF2B5EF4-FFF2-40B4-BE49-F238E27FC236}">
                <a16:creationId xmlns:a16="http://schemas.microsoft.com/office/drawing/2014/main" id="{F466F6B5-5D16-48CF-A1CC-BEBF481D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9-text-1">
            <a:extLst xmlns:a="http://schemas.openxmlformats.org/drawingml/2006/main">
              <a:ext uri="{FF2B5EF4-FFF2-40B4-BE49-F238E27FC236}">
                <a16:creationId xmlns:a16="http://schemas.microsoft.com/office/drawing/2014/main" id="{FCEBEDB4-B25D-46FF-9833-2B847603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health checks, pinned images, environment guidance and operator docs.</a:t>
            </a:r>
          </a:p>
        </p:txBody>
      </p:sp>
      <p:sp>
        <p:nvSpPr>
          <p:cNvPr id="14" name="step-9-mark-2">
            <a:extLst xmlns:a="http://schemas.openxmlformats.org/drawingml/2006/main">
              <a:ext uri="{FF2B5EF4-FFF2-40B4-BE49-F238E27FC236}">
                <a16:creationId xmlns:a16="http://schemas.microsoft.com/office/drawing/2014/main" id="{0CBEEE5E-ACD8-49B3-AB5B-F525E5FC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9-index-2">
            <a:extLst xmlns:a="http://schemas.openxmlformats.org/drawingml/2006/main">
              <a:ext uri="{FF2B5EF4-FFF2-40B4-BE49-F238E27FC236}">
                <a16:creationId xmlns:a16="http://schemas.microsoft.com/office/drawing/2014/main" id="{3145F30A-BB24-44FD-847B-65C2872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9-text-2">
            <a:extLst xmlns:a="http://schemas.openxmlformats.org/drawingml/2006/main">
              <a:ext uri="{FF2B5EF4-FFF2-40B4-BE49-F238E27FC236}">
                <a16:creationId xmlns:a16="http://schemas.microsoft.com/office/drawing/2014/main" id="{D3B19030-97CF-4C66-BA8A-ABE587F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Documented deployment scope and boundaries on evidence.</a:t>
            </a:r>
          </a:p>
        </p:txBody>
      </p:sp>
    </p:spTree>
    <p:extLst>
      <p:ext uri="{BB962C8B-B14F-4D97-AF65-F5344CB8AC3E}">
        <p14:creationId xmlns:p14="http://schemas.microsoft.com/office/powerpoint/2010/main" val="1965871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F1430AF-797B-409B-B8C4-BA33EB3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C5C2A5E-0D11-4346-8152-3C44873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96C3E7-2FD6-4732-B0E3-B9FA0B1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10  ·  Integration and handoff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C6351CA-9D29-4A50-ABF2-67800A69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D083D8-D345-46AA-96F3-449F93DA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0292CF6-2F5F-420D-A82B-8AD07405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D09C9FC-91B1-4B73-A377-D6C6212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12</a:t>
            </a:r>
          </a:p>
        </p:txBody>
      </p:sp>
      <p:sp>
        <p:nvSpPr>
          <p:cNvPr id="8" name="step-10-mark-0">
            <a:extLst xmlns:a="http://schemas.openxmlformats.org/drawingml/2006/main">
              <a:ext uri="{FF2B5EF4-FFF2-40B4-BE49-F238E27FC236}">
                <a16:creationId xmlns:a16="http://schemas.microsoft.com/office/drawing/2014/main" id="{B9B7D6E5-C7DE-4B5C-B641-480E992E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0-index-0">
            <a:extLst xmlns:a="http://schemas.openxmlformats.org/drawingml/2006/main">
              <a:ext uri="{FF2B5EF4-FFF2-40B4-BE49-F238E27FC236}">
                <a16:creationId xmlns:a16="http://schemas.microsoft.com/office/drawing/2014/main" id="{2908E6BB-FA7F-42D6-96DA-55A561BD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0-text-0">
            <a:extLst xmlns:a="http://schemas.openxmlformats.org/drawingml/2006/main">
              <a:ext uri="{FF2B5EF4-FFF2-40B4-BE49-F238E27FC236}">
                <a16:creationId xmlns:a16="http://schemas.microsoft.com/office/drawing/2014/main" id="{7BFF305A-D7D2-4960-B55B-5ADB61D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Re-ran the integration and frontend checks and checked migration state.</a:t>
            </a:r>
          </a:p>
        </p:txBody>
      </p:sp>
      <p:sp>
        <p:nvSpPr>
          <p:cNvPr id="11" name="step-10-mark-1">
            <a:extLst xmlns:a="http://schemas.openxmlformats.org/drawingml/2006/main">
              <a:ext uri="{FF2B5EF4-FFF2-40B4-BE49-F238E27FC236}">
                <a16:creationId xmlns:a16="http://schemas.microsoft.com/office/drawing/2014/main" id="{36CB5B68-E74B-4A47-900C-A29DEA92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0-index-1">
            <a:extLst xmlns:a="http://schemas.openxmlformats.org/drawingml/2006/main">
              <a:ext uri="{FF2B5EF4-FFF2-40B4-BE49-F238E27FC236}">
                <a16:creationId xmlns:a16="http://schemas.microsoft.com/office/drawing/2014/main" id="{C41FF410-8C96-49AF-A754-E0DF158B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0-text-1">
            <a:extLst xmlns:a="http://schemas.openxmlformats.org/drawingml/2006/main">
              <a:ext uri="{FF2B5EF4-FFF2-40B4-BE49-F238E27FC236}">
                <a16:creationId xmlns:a16="http://schemas.microsoft.com/office/drawing/2014/main" id="{DEED8604-8A07-4079-B82B-9EC7E84C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Recorded the first ten-step release and supporting handoff documents.</a:t>
            </a:r>
          </a:p>
        </p:txBody>
      </p:sp>
      <p:sp>
        <p:nvSpPr>
          <p:cNvPr id="14" name="step-10-mark-2">
            <a:extLst xmlns:a="http://schemas.openxmlformats.org/drawingml/2006/main">
              <a:ext uri="{FF2B5EF4-FFF2-40B4-BE49-F238E27FC236}">
                <a16:creationId xmlns:a16="http://schemas.microsoft.com/office/drawing/2014/main" id="{BD8BD645-30F1-47D9-A6F7-0EC42AC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0-index-2">
            <a:extLst xmlns:a="http://schemas.openxmlformats.org/drawingml/2006/main">
              <a:ext uri="{FF2B5EF4-FFF2-40B4-BE49-F238E27FC236}">
                <a16:creationId xmlns:a16="http://schemas.microsoft.com/office/drawing/2014/main" id="{F0288AAA-3AFD-43A7-BFCB-2A396CF8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0-text-2">
            <a:extLst xmlns:a="http://schemas.openxmlformats.org/drawingml/2006/main">
              <a:ext uri="{FF2B5EF4-FFF2-40B4-BE49-F238E27FC236}">
                <a16:creationId xmlns:a16="http://schemas.microsoft.com/office/drawing/2014/main" id="{3B75D2CC-941C-4CE7-8A27-717D510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Kept unverified capture and model work clearly identified.</a:t>
            </a:r>
          </a:p>
        </p:txBody>
      </p:sp>
    </p:spTree>
    <p:extLst>
      <p:ext uri="{BB962C8B-B14F-4D97-AF65-F5344CB8AC3E}">
        <p14:creationId xmlns:p14="http://schemas.microsoft.com/office/powerpoint/2010/main" val="5321491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0231F34-BE03-4953-BA8E-DF4FEE04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6F4D15B-27E0-45D8-BFF8-3CA4C456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B06F47-D3C4-40CD-A89E-DE00202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11  ·  PostgreSQL integration coverage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98B0C7D-F8C1-4EFD-9544-662005B9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5CE8D5-D48F-4379-905A-75E5D94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F83FFF1-60D4-4ED7-8A23-105C433E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1C2479F-27A4-4CF3-8146-37879104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13</a:t>
            </a:r>
          </a:p>
        </p:txBody>
      </p:sp>
      <p:sp>
        <p:nvSpPr>
          <p:cNvPr id="8" name="step-11-mark-0">
            <a:extLst xmlns:a="http://schemas.openxmlformats.org/drawingml/2006/main">
              <a:ext uri="{FF2B5EF4-FFF2-40B4-BE49-F238E27FC236}">
                <a16:creationId xmlns:a16="http://schemas.microsoft.com/office/drawing/2014/main" id="{B425031D-4EAD-42F8-B58A-F0188505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1-index-0">
            <a:extLst xmlns:a="http://schemas.openxmlformats.org/drawingml/2006/main">
              <a:ext uri="{FF2B5EF4-FFF2-40B4-BE49-F238E27FC236}">
                <a16:creationId xmlns:a16="http://schemas.microsoft.com/office/drawing/2014/main" id="{2CAACBA7-CD02-45D5-A128-459F1EE3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1-text-0">
            <a:extLst xmlns:a="http://schemas.openxmlformats.org/drawingml/2006/main">
              <a:ext uri="{FF2B5EF4-FFF2-40B4-BE49-F238E27FC236}">
                <a16:creationId xmlns:a16="http://schemas.microsoft.com/office/drawing/2014/main" id="{6D725A8A-512D-45D8-9B53-96CA3CF3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an opt-in integration path guarded to a disposable test database.</a:t>
            </a:r>
          </a:p>
        </p:txBody>
      </p:sp>
      <p:sp>
        <p:nvSpPr>
          <p:cNvPr id="11" name="step-11-mark-1">
            <a:extLst xmlns:a="http://schemas.openxmlformats.org/drawingml/2006/main">
              <a:ext uri="{FF2B5EF4-FFF2-40B4-BE49-F238E27FC236}">
                <a16:creationId xmlns:a16="http://schemas.microsoft.com/office/drawing/2014/main" id="{E8A715A2-0FF5-44A6-98C1-BBD0D334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1-index-1">
            <a:extLst xmlns:a="http://schemas.openxmlformats.org/drawingml/2006/main">
              <a:ext uri="{FF2B5EF4-FFF2-40B4-BE49-F238E27FC236}">
                <a16:creationId xmlns:a16="http://schemas.microsoft.com/office/drawing/2014/main" id="{AEB2497C-07B3-45F7-BDD2-C4D4DAEC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1-text-1">
            <a:extLst xmlns:a="http://schemas.openxmlformats.org/drawingml/2006/main">
              <a:ext uri="{FF2B5EF4-FFF2-40B4-BE49-F238E27FC236}">
                <a16:creationId xmlns:a16="http://schemas.microsoft.com/office/drawing/2014/main" id="{6341993F-53F6-494D-9F3B-5C5BC9A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Covered login, transactional persistence, acknowledgement and refresh.</a:t>
            </a:r>
          </a:p>
        </p:txBody>
      </p:sp>
      <p:sp>
        <p:nvSpPr>
          <p:cNvPr id="14" name="step-11-mark-2">
            <a:extLst xmlns:a="http://schemas.openxmlformats.org/drawingml/2006/main">
              <a:ext uri="{FF2B5EF4-FFF2-40B4-BE49-F238E27FC236}">
                <a16:creationId xmlns:a16="http://schemas.microsoft.com/office/drawing/2014/main" id="{9D97253F-ADD7-4530-81A6-717EF360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1-index-2">
            <a:extLst xmlns:a="http://schemas.openxmlformats.org/drawingml/2006/main">
              <a:ext uri="{FF2B5EF4-FFF2-40B4-BE49-F238E27FC236}">
                <a16:creationId xmlns:a16="http://schemas.microsoft.com/office/drawing/2014/main" id="{6F1051DE-8F4D-4279-9CCB-E8AC59E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1-text-2">
            <a:extLst xmlns:a="http://schemas.openxmlformats.org/drawingml/2006/main">
              <a:ext uri="{FF2B5EF4-FFF2-40B4-BE49-F238E27FC236}">
                <a16:creationId xmlns:a16="http://schemas.microsoft.com/office/drawing/2014/main" id="{23932FCF-F543-42CD-886E-DA5FEF3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Verified authenticated WebSocket delivery and cleaned up test resources.</a:t>
            </a:r>
          </a:p>
        </p:txBody>
      </p:sp>
    </p:spTree>
    <p:extLst>
      <p:ext uri="{BB962C8B-B14F-4D97-AF65-F5344CB8AC3E}">
        <p14:creationId xmlns:p14="http://schemas.microsoft.com/office/powerpoint/2010/main" val="6722080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C884730-A2A0-493A-95FF-E7778BC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5B7D81A9-0DDE-4530-809D-33CC2408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307CFB-78C2-40C2-BBD9-D33A0D33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12  ·  Capture-run lifecycle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3831C9-A691-4256-9CFB-4C6EE778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5404EE-2363-4305-A06D-A4592EC9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EE440CD-DCDE-49AA-A701-7E4B2B26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CB333AA-D247-48EF-8701-6BCBCEF8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14</a:t>
            </a:r>
          </a:p>
        </p:txBody>
      </p:sp>
      <p:sp>
        <p:nvSpPr>
          <p:cNvPr id="8" name="step-12-mark-0">
            <a:extLst xmlns:a="http://schemas.openxmlformats.org/drawingml/2006/main">
              <a:ext uri="{FF2B5EF4-FFF2-40B4-BE49-F238E27FC236}">
                <a16:creationId xmlns:a16="http://schemas.microsoft.com/office/drawing/2014/main" id="{79F95767-594C-4F80-B68C-7B5A6413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2-index-0">
            <a:extLst xmlns:a="http://schemas.openxmlformats.org/drawingml/2006/main">
              <a:ext uri="{FF2B5EF4-FFF2-40B4-BE49-F238E27FC236}">
                <a16:creationId xmlns:a16="http://schemas.microsoft.com/office/drawing/2014/main" id="{6DCE10DA-17CA-4EAA-9565-3B7DD76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2-text-0">
            <a:extLst xmlns:a="http://schemas.openxmlformats.org/drawingml/2006/main">
              <a:ext uri="{FF2B5EF4-FFF2-40B4-BE49-F238E27FC236}">
                <a16:creationId xmlns:a16="http://schemas.microsoft.com/office/drawing/2014/main" id="{F3833F28-555F-4E85-8EB2-87C79BB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running, completed, partial and failed run records.</a:t>
            </a:r>
          </a:p>
        </p:txBody>
      </p:sp>
      <p:sp>
        <p:nvSpPr>
          <p:cNvPr id="11" name="step-12-mark-1">
            <a:extLst xmlns:a="http://schemas.openxmlformats.org/drawingml/2006/main">
              <a:ext uri="{FF2B5EF4-FFF2-40B4-BE49-F238E27FC236}">
                <a16:creationId xmlns:a16="http://schemas.microsoft.com/office/drawing/2014/main" id="{8163D3F3-5C69-49DA-840F-9389EFB2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2-index-1">
            <a:extLst xmlns:a="http://schemas.openxmlformats.org/drawingml/2006/main">
              <a:ext uri="{FF2B5EF4-FFF2-40B4-BE49-F238E27FC236}">
                <a16:creationId xmlns:a16="http://schemas.microsoft.com/office/drawing/2014/main" id="{6ECBC4F5-8EA4-4FE8-B1E4-3A5BE14A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2-text-1">
            <a:extLst xmlns:a="http://schemas.openxmlformats.org/drawingml/2006/main">
              <a:ext uri="{FF2B5EF4-FFF2-40B4-BE49-F238E27FC236}">
                <a16:creationId xmlns:a16="http://schemas.microsoft.com/office/drawing/2014/main" id="{CC048034-9466-458D-B361-7050E74D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Recorded bounded counters, model identity, timing and failure codes.</a:t>
            </a:r>
          </a:p>
        </p:txBody>
      </p:sp>
      <p:sp>
        <p:nvSpPr>
          <p:cNvPr id="14" name="step-12-mark-2">
            <a:extLst xmlns:a="http://schemas.openxmlformats.org/drawingml/2006/main">
              <a:ext uri="{FF2B5EF4-FFF2-40B4-BE49-F238E27FC236}">
                <a16:creationId xmlns:a16="http://schemas.microsoft.com/office/drawing/2014/main" id="{05B0CFB7-CBEC-4BCC-94F1-C25CEB7C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2-index-2">
            <a:extLst xmlns:a="http://schemas.openxmlformats.org/drawingml/2006/main">
              <a:ext uri="{FF2B5EF4-FFF2-40B4-BE49-F238E27FC236}">
                <a16:creationId xmlns:a16="http://schemas.microsoft.com/office/drawing/2014/main" id="{9F7BB1B6-0373-4CA7-803A-605891E0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2-text-2">
            <a:extLst xmlns:a="http://schemas.openxmlformats.org/drawingml/2006/main">
              <a:ext uri="{FF2B5EF4-FFF2-40B4-BE49-F238E27FC236}">
                <a16:creationId xmlns:a16="http://schemas.microsoft.com/office/drawing/2014/main" id="{A1472CBA-468D-46BE-9E69-C74ED5E6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Handled incomplete runs as incomplete rather than successful.</a:t>
            </a:r>
          </a:p>
        </p:txBody>
      </p:sp>
    </p:spTree>
    <p:extLst>
      <p:ext uri="{BB962C8B-B14F-4D97-AF65-F5344CB8AC3E}">
        <p14:creationId xmlns:p14="http://schemas.microsoft.com/office/powerpoint/2010/main" val="1982771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DD93DEE-D920-4926-93E4-B28A8BDD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637E52A-2E5E-478D-891A-5C922A05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FFEF2A-E4BE-4E4C-A33B-FE915016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13  ·  Retry-safe replay identity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AD40515-BF67-4A26-8AE5-BC24B254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DF00B1-0A6B-4D94-9323-114D09BB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7517B71-2E2C-4F79-A784-62FEC110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33E1AEA-A029-4131-A051-C9694A5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15</a:t>
            </a:r>
          </a:p>
        </p:txBody>
      </p:sp>
      <p:sp>
        <p:nvSpPr>
          <p:cNvPr id="8" name="step-13-mark-0">
            <a:extLst xmlns:a="http://schemas.openxmlformats.org/drawingml/2006/main">
              <a:ext uri="{FF2B5EF4-FFF2-40B4-BE49-F238E27FC236}">
                <a16:creationId xmlns:a16="http://schemas.microsoft.com/office/drawing/2014/main" id="{6DD38DE8-3987-4089-8604-BA5F31DE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3-index-0">
            <a:extLst xmlns:a="http://schemas.openxmlformats.org/drawingml/2006/main">
              <a:ext uri="{FF2B5EF4-FFF2-40B4-BE49-F238E27FC236}">
                <a16:creationId xmlns:a16="http://schemas.microsoft.com/office/drawing/2014/main" id="{A3A23269-EB7A-4C5B-B758-5059258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3-text-0">
            <a:extLst xmlns:a="http://schemas.openxmlformats.org/drawingml/2006/main">
              <a:ext uri="{FF2B5EF4-FFF2-40B4-BE49-F238E27FC236}">
                <a16:creationId xmlns:a16="http://schemas.microsoft.com/office/drawing/2014/main" id="{AF3701CA-31F9-470D-8C2A-881F761D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stable capture IDs and idempotent retry behavior.</a:t>
            </a:r>
          </a:p>
        </p:txBody>
      </p:sp>
      <p:sp>
        <p:nvSpPr>
          <p:cNvPr id="11" name="step-13-mark-1">
            <a:extLst xmlns:a="http://schemas.openxmlformats.org/drawingml/2006/main">
              <a:ext uri="{FF2B5EF4-FFF2-40B4-BE49-F238E27FC236}">
                <a16:creationId xmlns:a16="http://schemas.microsoft.com/office/drawing/2014/main" id="{504E2495-BDBC-4605-A301-65FE415F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3-index-1">
            <a:extLst xmlns:a="http://schemas.openxmlformats.org/drawingml/2006/main">
              <a:ext uri="{FF2B5EF4-FFF2-40B4-BE49-F238E27FC236}">
                <a16:creationId xmlns:a16="http://schemas.microsoft.com/office/drawing/2014/main" id="{E545B329-EFEA-4395-8B8F-21F9C8C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3-text-1">
            <a:extLst xmlns:a="http://schemas.openxmlformats.org/drawingml/2006/main">
              <a:ext uri="{FF2B5EF4-FFF2-40B4-BE49-F238E27FC236}">
                <a16:creationId xmlns:a16="http://schemas.microsoft.com/office/drawing/2014/main" id="{6AEB4CB0-9752-4585-B0A2-C894FEF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Counted duplicate flows while preserving acknowledgement state.</a:t>
            </a:r>
          </a:p>
        </p:txBody>
      </p:sp>
      <p:sp>
        <p:nvSpPr>
          <p:cNvPr id="14" name="step-13-mark-2">
            <a:extLst xmlns:a="http://schemas.openxmlformats.org/drawingml/2006/main">
              <a:ext uri="{FF2B5EF4-FFF2-40B4-BE49-F238E27FC236}">
                <a16:creationId xmlns:a16="http://schemas.microsoft.com/office/drawing/2014/main" id="{08023EFC-FC47-43A4-B7F5-4163306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3-index-2">
            <a:extLst xmlns:a="http://schemas.openxmlformats.org/drawingml/2006/main">
              <a:ext uri="{FF2B5EF4-FFF2-40B4-BE49-F238E27FC236}">
                <a16:creationId xmlns:a16="http://schemas.microsoft.com/office/drawing/2014/main" id="{CD175FE6-D363-4DC3-BA25-D5412AAF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3-text-2">
            <a:extLst xmlns:a="http://schemas.openxmlformats.org/drawingml/2006/main">
              <a:ext uri="{FF2B5EF4-FFF2-40B4-BE49-F238E27FC236}">
                <a16:creationId xmlns:a16="http://schemas.microsoft.com/office/drawing/2014/main" id="{437A1A21-5B9D-46B6-BE34-D1772C6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Rejected conflicting content assigned to an existing identity.</a:t>
            </a:r>
          </a:p>
        </p:txBody>
      </p:sp>
    </p:spTree>
    <p:extLst>
      <p:ext uri="{BB962C8B-B14F-4D97-AF65-F5344CB8AC3E}">
        <p14:creationId xmlns:p14="http://schemas.microsoft.com/office/powerpoint/2010/main" val="3896485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582046E-D219-4B9E-97D3-FB44251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B2787AA-E0CA-47BC-BAF5-220D3175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E513E1-3E16-4F87-AA17-026F81E2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14  ·  Capture history API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057B580-38AB-4D50-87AB-D192516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F9A97BB-7B44-4B23-B1D0-137FC935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3EB2442-A5B7-46E5-9189-9784B64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4BF65D3-1287-4226-9D80-192F4A4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16</a:t>
            </a:r>
          </a:p>
        </p:txBody>
      </p:sp>
      <p:sp>
        <p:nvSpPr>
          <p:cNvPr id="8" name="step-14-mark-0">
            <a:extLst xmlns:a="http://schemas.openxmlformats.org/drawingml/2006/main">
              <a:ext uri="{FF2B5EF4-FFF2-40B4-BE49-F238E27FC236}">
                <a16:creationId xmlns:a16="http://schemas.microsoft.com/office/drawing/2014/main" id="{3337EEFB-616A-4A8C-9FB0-B298FAC4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4-index-0">
            <a:extLst xmlns:a="http://schemas.openxmlformats.org/drawingml/2006/main">
              <a:ext uri="{FF2B5EF4-FFF2-40B4-BE49-F238E27FC236}">
                <a16:creationId xmlns:a16="http://schemas.microsoft.com/office/drawing/2014/main" id="{0B873BAD-0B85-462F-B568-5849DB1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4-text-0">
            <a:extLst xmlns:a="http://schemas.openxmlformats.org/drawingml/2006/main">
              <a:ext uri="{FF2B5EF4-FFF2-40B4-BE49-F238E27FC236}">
                <a16:creationId xmlns:a16="http://schemas.microsoft.com/office/drawing/2014/main" id="{2B8BF563-05DC-4DCF-98B7-186C3241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authenticated capture list and detail resources.</a:t>
            </a:r>
          </a:p>
        </p:txBody>
      </p:sp>
      <p:sp>
        <p:nvSpPr>
          <p:cNvPr id="11" name="step-14-mark-1">
            <a:extLst xmlns:a="http://schemas.openxmlformats.org/drawingml/2006/main">
              <a:ext uri="{FF2B5EF4-FFF2-40B4-BE49-F238E27FC236}">
                <a16:creationId xmlns:a16="http://schemas.microsoft.com/office/drawing/2014/main" id="{58FF1D62-805D-4794-B871-B785F02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4-index-1">
            <a:extLst xmlns:a="http://schemas.openxmlformats.org/drawingml/2006/main">
              <a:ext uri="{FF2B5EF4-FFF2-40B4-BE49-F238E27FC236}">
                <a16:creationId xmlns:a16="http://schemas.microsoft.com/office/drawing/2014/main" id="{780B3A9A-F3B1-4592-8C9E-4D010D85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4-text-1">
            <a:extLst xmlns:a="http://schemas.openxmlformats.org/drawingml/2006/main">
              <a:ext uri="{FF2B5EF4-FFF2-40B4-BE49-F238E27FC236}">
                <a16:creationId xmlns:a16="http://schemas.microsoft.com/office/drawing/2014/main" id="{5E9C90A7-2ACD-4CE7-877B-94570CBF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Supported validated time/status filters and stable pagination.</a:t>
            </a:r>
          </a:p>
        </p:txBody>
      </p:sp>
      <p:sp>
        <p:nvSpPr>
          <p:cNvPr id="14" name="step-14-mark-2">
            <a:extLst xmlns:a="http://schemas.openxmlformats.org/drawingml/2006/main">
              <a:ext uri="{FF2B5EF4-FFF2-40B4-BE49-F238E27FC236}">
                <a16:creationId xmlns:a16="http://schemas.microsoft.com/office/drawing/2014/main" id="{01CDEB79-8E56-4558-BEDA-508A0456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4-index-2">
            <a:extLst xmlns:a="http://schemas.openxmlformats.org/drawingml/2006/main">
              <a:ext uri="{FF2B5EF4-FFF2-40B4-BE49-F238E27FC236}">
                <a16:creationId xmlns:a16="http://schemas.microsoft.com/office/drawing/2014/main" id="{A09B4E40-0618-4CDF-8038-3545C0E4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4-text-2">
            <a:extLst xmlns:a="http://schemas.openxmlformats.org/drawingml/2006/main">
              <a:ext uri="{FF2B5EF4-FFF2-40B4-BE49-F238E27FC236}">
                <a16:creationId xmlns:a16="http://schemas.microsoft.com/office/drawing/2014/main" id="{0D7695F0-ACEB-4C14-B88E-00EB80C8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Returned lifecycle, model, count and failure evidence.</a:t>
            </a:r>
          </a:p>
        </p:txBody>
      </p:sp>
    </p:spTree>
    <p:extLst>
      <p:ext uri="{BB962C8B-B14F-4D97-AF65-F5344CB8AC3E}">
        <p14:creationId xmlns:p14="http://schemas.microsoft.com/office/powerpoint/2010/main" val="6612056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409FA3D-81E0-464B-8A60-2B858461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2505658-4E5B-46EE-868E-690E631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5B7E3B-14A7-4034-B174-D99DD42B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15  ·  Overview analytics API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1A0B7EB-A5C1-4E93-B7BA-D2E210F7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2E4217E-0133-4C55-9B3F-662F95EF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A25199E-77BD-4294-BC93-ECC19E75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87F48BB-AC31-437E-A46D-44BB19C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17</a:t>
            </a:r>
          </a:p>
        </p:txBody>
      </p:sp>
      <p:sp>
        <p:nvSpPr>
          <p:cNvPr id="8" name="step-15-mark-0">
            <a:extLst xmlns:a="http://schemas.openxmlformats.org/drawingml/2006/main">
              <a:ext uri="{FF2B5EF4-FFF2-40B4-BE49-F238E27FC236}">
                <a16:creationId xmlns:a16="http://schemas.microsoft.com/office/drawing/2014/main" id="{1FD52406-8317-4A2F-B439-9AE30877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5-index-0">
            <a:extLst xmlns:a="http://schemas.openxmlformats.org/drawingml/2006/main">
              <a:ext uri="{FF2B5EF4-FFF2-40B4-BE49-F238E27FC236}">
                <a16:creationId xmlns:a16="http://schemas.microsoft.com/office/drawing/2014/main" id="{236C1DA5-61FB-4EA1-BAA4-48E0D231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5-text-0">
            <a:extLst xmlns:a="http://schemas.openxmlformats.org/drawingml/2006/main">
              <a:ext uri="{FF2B5EF4-FFF2-40B4-BE49-F238E27FC236}">
                <a16:creationId xmlns:a16="http://schemas.microsoft.com/office/drawing/2014/main" id="{A507246B-C924-4E46-9C5E-08838865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persisted count summaries and protocol/severity breakdowns.</a:t>
            </a:r>
          </a:p>
        </p:txBody>
      </p:sp>
      <p:sp>
        <p:nvSpPr>
          <p:cNvPr id="11" name="step-15-mark-1">
            <a:extLst xmlns:a="http://schemas.openxmlformats.org/drawingml/2006/main">
              <a:ext uri="{FF2B5EF4-FFF2-40B4-BE49-F238E27FC236}">
                <a16:creationId xmlns:a16="http://schemas.microsoft.com/office/drawing/2014/main" id="{0B0B2E82-D2E0-47E1-8EF1-7E5BC64E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5-index-1">
            <a:extLst xmlns:a="http://schemas.openxmlformats.org/drawingml/2006/main">
              <a:ext uri="{FF2B5EF4-FFF2-40B4-BE49-F238E27FC236}">
                <a16:creationId xmlns:a16="http://schemas.microsoft.com/office/drawing/2014/main" id="{EF49BE66-5104-4302-904F-66D10D8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5-text-1">
            <a:extLst xmlns:a="http://schemas.openxmlformats.org/drawingml/2006/main">
              <a:ext uri="{FF2B5EF4-FFF2-40B4-BE49-F238E27FC236}">
                <a16:creationId xmlns:a16="http://schemas.microsoft.com/office/drawing/2014/main" id="{7821D376-D975-43F5-B38E-BFC85B96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hourly/daily UTC timelines with zero-filled buckets.</a:t>
            </a:r>
          </a:p>
        </p:txBody>
      </p:sp>
      <p:sp>
        <p:nvSpPr>
          <p:cNvPr id="14" name="step-15-mark-2">
            <a:extLst xmlns:a="http://schemas.openxmlformats.org/drawingml/2006/main">
              <a:ext uri="{FF2B5EF4-FFF2-40B4-BE49-F238E27FC236}">
                <a16:creationId xmlns:a16="http://schemas.microsoft.com/office/drawing/2014/main" id="{3C59747B-4A68-4687-897A-7BD2B960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5-index-2">
            <a:extLst xmlns:a="http://schemas.openxmlformats.org/drawingml/2006/main">
              <a:ext uri="{FF2B5EF4-FFF2-40B4-BE49-F238E27FC236}">
                <a16:creationId xmlns:a16="http://schemas.microsoft.com/office/drawing/2014/main" id="{286FF942-0057-4137-8AD7-1F1C1D43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5-text-2">
            <a:extLst xmlns:a="http://schemas.openxmlformats.org/drawingml/2006/main">
              <a:ext uri="{FF2B5EF4-FFF2-40B4-BE49-F238E27FC236}">
                <a16:creationId xmlns:a16="http://schemas.microsoft.com/office/drawing/2014/main" id="{4FC2F996-E910-416D-9EFC-9B08ADA8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Bounded date ranges and validated timestamps and bucket values.</a:t>
            </a:r>
          </a:p>
        </p:txBody>
      </p:sp>
    </p:spTree>
    <p:extLst>
      <p:ext uri="{BB962C8B-B14F-4D97-AF65-F5344CB8AC3E}">
        <p14:creationId xmlns:p14="http://schemas.microsoft.com/office/powerpoint/2010/main" val="724617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4033442-810D-4FA4-AF30-2483911F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4585638-51C9-4BCF-B389-252DA8DA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2D2993-D14D-4392-A12D-6DDD3EF2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16  ·  Overview and history dashboard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B467761-67CE-464D-90A6-F3D8082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375D0F9-CB03-45DA-B370-133E42C2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0492341-D287-4B88-AE88-BBC8C88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6383F61-1C30-4498-8B04-4D4CA726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18</a:t>
            </a:r>
          </a:p>
        </p:txBody>
      </p:sp>
      <p:sp>
        <p:nvSpPr>
          <p:cNvPr id="8" name="step-16-mark-0">
            <a:extLst xmlns:a="http://schemas.openxmlformats.org/drawingml/2006/main">
              <a:ext uri="{FF2B5EF4-FFF2-40B4-BE49-F238E27FC236}">
                <a16:creationId xmlns:a16="http://schemas.microsoft.com/office/drawing/2014/main" id="{DF37EAF8-9216-4ABA-9162-EFE6A44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6-index-0">
            <a:extLst xmlns:a="http://schemas.openxmlformats.org/drawingml/2006/main">
              <a:ext uri="{FF2B5EF4-FFF2-40B4-BE49-F238E27FC236}">
                <a16:creationId xmlns:a16="http://schemas.microsoft.com/office/drawing/2014/main" id="{4F6C2708-044F-4BC3-B405-0B6E6D41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6-text-0">
            <a:extLst xmlns:a="http://schemas.openxmlformats.org/drawingml/2006/main">
              <a:ext uri="{FF2B5EF4-FFF2-40B4-BE49-F238E27FC236}">
                <a16:creationId xmlns:a16="http://schemas.microsoft.com/office/drawing/2014/main" id="{89F46A48-D32C-482F-A1FD-3310E228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Connected overview totals and timelines to stored API data.</a:t>
            </a:r>
          </a:p>
        </p:txBody>
      </p:sp>
      <p:sp>
        <p:nvSpPr>
          <p:cNvPr id="11" name="step-16-mark-1">
            <a:extLst xmlns:a="http://schemas.openxmlformats.org/drawingml/2006/main">
              <a:ext uri="{FF2B5EF4-FFF2-40B4-BE49-F238E27FC236}">
                <a16:creationId xmlns:a16="http://schemas.microsoft.com/office/drawing/2014/main" id="{B840F1DD-3008-4F45-B459-0F771D92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6-index-1">
            <a:extLst xmlns:a="http://schemas.openxmlformats.org/drawingml/2006/main">
              <a:ext uri="{FF2B5EF4-FFF2-40B4-BE49-F238E27FC236}">
                <a16:creationId xmlns:a16="http://schemas.microsoft.com/office/drawing/2014/main" id="{32F260A9-7847-4309-A7E0-2FF005E7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6-text-1">
            <a:extLst xmlns:a="http://schemas.openxmlformats.org/drawingml/2006/main">
              <a:ext uri="{FF2B5EF4-FFF2-40B4-BE49-F238E27FC236}">
                <a16:creationId xmlns:a16="http://schemas.microsoft.com/office/drawing/2014/main" id="{CB4CB272-00F2-4B1A-823F-BD9BD668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accessible chart values, URL filters and capture run details.</a:t>
            </a:r>
          </a:p>
        </p:txBody>
      </p:sp>
      <p:sp>
        <p:nvSpPr>
          <p:cNvPr id="14" name="step-16-mark-2">
            <a:extLst xmlns:a="http://schemas.openxmlformats.org/drawingml/2006/main">
              <a:ext uri="{FF2B5EF4-FFF2-40B4-BE49-F238E27FC236}">
                <a16:creationId xmlns:a16="http://schemas.microsoft.com/office/drawing/2014/main" id="{95F09FF1-5308-4AB6-92B1-A3D6B28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6-index-2">
            <a:extLst xmlns:a="http://schemas.openxmlformats.org/drawingml/2006/main">
              <a:ext uri="{FF2B5EF4-FFF2-40B4-BE49-F238E27FC236}">
                <a16:creationId xmlns:a16="http://schemas.microsoft.com/office/drawing/2014/main" id="{7E996439-008A-4DAB-9D8E-B76D61EC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6-text-2">
            <a:extLst xmlns:a="http://schemas.openxmlformats.org/drawingml/2006/main">
              <a:ext uri="{FF2B5EF4-FFF2-40B4-BE49-F238E27FC236}">
                <a16:creationId xmlns:a16="http://schemas.microsoft.com/office/drawing/2014/main" id="{1F6BCF1C-9E24-4283-A896-9E9EF31C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Handled loading, empty, stale, retry, and responsive states.</a:t>
            </a:r>
          </a:p>
        </p:txBody>
      </p:sp>
    </p:spTree>
    <p:extLst>
      <p:ext uri="{BB962C8B-B14F-4D97-AF65-F5344CB8AC3E}">
        <p14:creationId xmlns:p14="http://schemas.microsoft.com/office/powerpoint/2010/main" val="18414025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ACB8AF3-34EB-4CE9-BBED-AD56B63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5B412B49-F0BE-453C-9BD5-FF0C1C63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2FB89C-3215-4F47-9448-DF0661BA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17  ·  Model and evaluation view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955AEEC-65E8-4E07-8278-0918E4DB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8663EDA-2281-4B2A-9C28-9419F65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02A7158-2836-4877-9B9F-34E800F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DFF7109-A429-476B-971D-D7CC3197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19</a:t>
            </a:r>
          </a:p>
        </p:txBody>
      </p:sp>
      <p:sp>
        <p:nvSpPr>
          <p:cNvPr id="8" name="step-17-mark-0">
            <a:extLst xmlns:a="http://schemas.openxmlformats.org/drawingml/2006/main">
              <a:ext uri="{FF2B5EF4-FFF2-40B4-BE49-F238E27FC236}">
                <a16:creationId xmlns:a16="http://schemas.microsoft.com/office/drawing/2014/main" id="{FFCB19EB-44C4-4D30-9400-0D269F0A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7-index-0">
            <a:extLst xmlns:a="http://schemas.openxmlformats.org/drawingml/2006/main">
              <a:ext uri="{FF2B5EF4-FFF2-40B4-BE49-F238E27FC236}">
                <a16:creationId xmlns:a16="http://schemas.microsoft.com/office/drawing/2014/main" id="{E2CDFE77-403B-4635-8842-D3D0BE9D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7-text-0">
            <a:extLst xmlns:a="http://schemas.openxmlformats.org/drawingml/2006/main">
              <a:ext uri="{FF2B5EF4-FFF2-40B4-BE49-F238E27FC236}">
                <a16:creationId xmlns:a16="http://schemas.microsoft.com/office/drawing/2014/main" id="{96D69B61-2C98-4A80-859B-14577A2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verified model status and evaluation-report integrity checks.</a:t>
            </a:r>
          </a:p>
        </p:txBody>
      </p:sp>
      <p:sp>
        <p:nvSpPr>
          <p:cNvPr id="11" name="step-17-mark-1">
            <a:extLst xmlns:a="http://schemas.openxmlformats.org/drawingml/2006/main">
              <a:ext uri="{FF2B5EF4-FFF2-40B4-BE49-F238E27FC236}">
                <a16:creationId xmlns:a16="http://schemas.microsoft.com/office/drawing/2014/main" id="{AB88CF5F-6F68-44C2-BEF5-0419F1F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7-index-1">
            <a:extLst xmlns:a="http://schemas.openxmlformats.org/drawingml/2006/main">
              <a:ext uri="{FF2B5EF4-FFF2-40B4-BE49-F238E27FC236}">
                <a16:creationId xmlns:a16="http://schemas.microsoft.com/office/drawing/2014/main" id="{66586499-63C9-4690-B0DA-1A430C89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7-text-1">
            <a:extLst xmlns:a="http://schemas.openxmlformats.org/drawingml/2006/main">
              <a:ext uri="{FF2B5EF4-FFF2-40B4-BE49-F238E27FC236}">
                <a16:creationId xmlns:a16="http://schemas.microsoft.com/office/drawing/2014/main" id="{7C58E8CD-2A64-4C2F-B8F5-C3704C70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Displayed metrics only when report identity and checksum match.</a:t>
            </a:r>
          </a:p>
        </p:txBody>
      </p:sp>
      <p:sp>
        <p:nvSpPr>
          <p:cNvPr id="14" name="step-17-mark-2">
            <a:extLst xmlns:a="http://schemas.openxmlformats.org/drawingml/2006/main">
              <a:ext uri="{FF2B5EF4-FFF2-40B4-BE49-F238E27FC236}">
                <a16:creationId xmlns:a16="http://schemas.microsoft.com/office/drawing/2014/main" id="{25FEAB35-7383-4601-92BA-9F3BCC6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7-index-2">
            <a:extLst xmlns:a="http://schemas.openxmlformats.org/drawingml/2006/main">
              <a:ext uri="{FF2B5EF4-FFF2-40B4-BE49-F238E27FC236}">
                <a16:creationId xmlns:a16="http://schemas.microsoft.com/office/drawing/2014/main" id="{42AFA01A-BA1B-4E93-9744-C90B44DC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7-text-2">
            <a:extLst xmlns:a="http://schemas.openxmlformats.org/drawingml/2006/main">
              <a:ext uri="{FF2B5EF4-FFF2-40B4-BE49-F238E27FC236}">
                <a16:creationId xmlns:a16="http://schemas.microsoft.com/office/drawing/2014/main" id="{D90277A6-C4C7-4A84-8843-EB7DBCFD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Made absent, invalid and incompatible model states explicit.</a:t>
            </a:r>
          </a:p>
        </p:txBody>
      </p:sp>
    </p:spTree>
    <p:extLst>
      <p:ext uri="{BB962C8B-B14F-4D97-AF65-F5344CB8AC3E}">
        <p14:creationId xmlns:p14="http://schemas.microsoft.com/office/powerpoint/2010/main" val="12946104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599000B-4F44-4023-BD4B-05AD2DD1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9A28E6E-AA04-412F-B3DE-1C988EC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A392C1-A8C1-43AA-887C-642254E2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18  ·  Administrator user management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A5128A-8116-481D-A42B-96C9630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B0493F8-032B-449C-B8AE-B582CA2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167AE46-9BBC-48AD-BEA6-4B0BA7FA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C8C0B16A-34A8-4FB5-9A9F-5C66D70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20</a:t>
            </a:r>
          </a:p>
        </p:txBody>
      </p:sp>
      <p:sp>
        <p:nvSpPr>
          <p:cNvPr id="8" name="step-18-mark-0">
            <a:extLst xmlns:a="http://schemas.openxmlformats.org/drawingml/2006/main">
              <a:ext uri="{FF2B5EF4-FFF2-40B4-BE49-F238E27FC236}">
                <a16:creationId xmlns:a16="http://schemas.microsoft.com/office/drawing/2014/main" id="{1481F4CC-DD7B-43F8-A87B-F989997B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8-index-0">
            <a:extLst xmlns:a="http://schemas.openxmlformats.org/drawingml/2006/main">
              <a:ext uri="{FF2B5EF4-FFF2-40B4-BE49-F238E27FC236}">
                <a16:creationId xmlns:a16="http://schemas.microsoft.com/office/drawing/2014/main" id="{C1729FA3-94D0-4243-871D-351E7698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8-text-0">
            <a:extLst xmlns:a="http://schemas.openxmlformats.org/drawingml/2006/main">
              <a:ext uri="{FF2B5EF4-FFF2-40B4-BE49-F238E27FC236}">
                <a16:creationId xmlns:a16="http://schemas.microsoft.com/office/drawing/2014/main" id="{24A20535-284E-41D5-B728-69DA90E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server-protected account listing, creation and status changes.</a:t>
            </a:r>
          </a:p>
        </p:txBody>
      </p:sp>
      <p:sp>
        <p:nvSpPr>
          <p:cNvPr id="11" name="step-18-mark-1">
            <a:extLst xmlns:a="http://schemas.openxmlformats.org/drawingml/2006/main">
              <a:ext uri="{FF2B5EF4-FFF2-40B4-BE49-F238E27FC236}">
                <a16:creationId xmlns:a16="http://schemas.microsoft.com/office/drawing/2014/main" id="{B5942B6C-6B3F-49EC-AB29-0D52B98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8-index-1">
            <a:extLst xmlns:a="http://schemas.openxmlformats.org/drawingml/2006/main">
              <a:ext uri="{FF2B5EF4-FFF2-40B4-BE49-F238E27FC236}">
                <a16:creationId xmlns:a16="http://schemas.microsoft.com/office/drawing/2014/main" id="{FA2BCC46-30CB-4DFC-B9AE-7BD93AF7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8-text-1">
            <a:extLst xmlns:a="http://schemas.openxmlformats.org/drawingml/2006/main">
              <a:ext uri="{FF2B5EF4-FFF2-40B4-BE49-F238E27FC236}">
                <a16:creationId xmlns:a16="http://schemas.microsoft.com/office/drawing/2014/main" id="{C81CF640-FBC3-4311-A33D-6319BA52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Prevented self-deactivation and last-active-admin lockout.</a:t>
            </a:r>
          </a:p>
        </p:txBody>
      </p:sp>
      <p:sp>
        <p:nvSpPr>
          <p:cNvPr id="14" name="step-18-mark-2">
            <a:extLst xmlns:a="http://schemas.openxmlformats.org/drawingml/2006/main">
              <a:ext uri="{FF2B5EF4-FFF2-40B4-BE49-F238E27FC236}">
                <a16:creationId xmlns:a16="http://schemas.microsoft.com/office/drawing/2014/main" id="{ED5DB601-D6D6-4E07-9501-8A9BEDC5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8-index-2">
            <a:extLst xmlns:a="http://schemas.openxmlformats.org/drawingml/2006/main">
              <a:ext uri="{FF2B5EF4-FFF2-40B4-BE49-F238E27FC236}">
                <a16:creationId xmlns:a16="http://schemas.microsoft.com/office/drawing/2014/main" id="{69697307-3155-464B-9BFA-E07CC33D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8-text-2">
            <a:extLst xmlns:a="http://schemas.openxmlformats.org/drawingml/2006/main">
              <a:ext uri="{FF2B5EF4-FFF2-40B4-BE49-F238E27FC236}">
                <a16:creationId xmlns:a16="http://schemas.microsoft.com/office/drawing/2014/main" id="{68F3A642-F2AE-438D-9D3E-D55F8EDC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Audited changes and revoked refresh sessions on deactivation.</a:t>
            </a:r>
          </a:p>
        </p:txBody>
      </p:sp>
    </p:spTree>
    <p:extLst>
      <p:ext uri="{BB962C8B-B14F-4D97-AF65-F5344CB8AC3E}">
        <p14:creationId xmlns:p14="http://schemas.microsoft.com/office/powerpoint/2010/main" val="14336245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027A8BE-2239-48B2-A39D-DBA5D1A5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C3F629-53C5-483F-87D6-3C3E759A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B1DB6A-84EC-4C1F-952D-6CF61347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19  ·  Login abuse controls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4BBEB98-452A-4ABB-B067-71289A94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60BF2C-BE4E-4C05-AAC5-41AFEC05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F6416EF-8389-4C3A-98DE-D3F7AE6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F9B16A5-C9E8-46DC-A94F-59DF9A3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21</a:t>
            </a:r>
          </a:p>
        </p:txBody>
      </p:sp>
      <p:sp>
        <p:nvSpPr>
          <p:cNvPr id="8" name="step-19-mark-0">
            <a:extLst xmlns:a="http://schemas.openxmlformats.org/drawingml/2006/main">
              <a:ext uri="{FF2B5EF4-FFF2-40B4-BE49-F238E27FC236}">
                <a16:creationId xmlns:a16="http://schemas.microsoft.com/office/drawing/2014/main" id="{73153CE0-7650-4F34-B5FA-745059EE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19-index-0">
            <a:extLst xmlns:a="http://schemas.openxmlformats.org/drawingml/2006/main">
              <a:ext uri="{FF2B5EF4-FFF2-40B4-BE49-F238E27FC236}">
                <a16:creationId xmlns:a16="http://schemas.microsoft.com/office/drawing/2014/main" id="{968974C0-83DD-4E50-8467-2FCC40D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19-text-0">
            <a:extLst xmlns:a="http://schemas.openxmlformats.org/drawingml/2006/main">
              <a:ext uri="{FF2B5EF4-FFF2-40B4-BE49-F238E27FC236}">
                <a16:creationId xmlns:a16="http://schemas.microsoft.com/office/drawing/2014/main" id="{109954F1-14A6-4C25-AA26-B772BB1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bounded process-local login throttling and 429 responses.</a:t>
            </a:r>
          </a:p>
        </p:txBody>
      </p:sp>
      <p:sp>
        <p:nvSpPr>
          <p:cNvPr id="11" name="step-19-mark-1">
            <a:extLst xmlns:a="http://schemas.openxmlformats.org/drawingml/2006/main">
              <a:ext uri="{FF2B5EF4-FFF2-40B4-BE49-F238E27FC236}">
                <a16:creationId xmlns:a16="http://schemas.microsoft.com/office/drawing/2014/main" id="{3E8E24BE-01D2-4152-9316-5FE97CC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9-index-1">
            <a:extLst xmlns:a="http://schemas.openxmlformats.org/drawingml/2006/main">
              <a:ext uri="{FF2B5EF4-FFF2-40B4-BE49-F238E27FC236}">
                <a16:creationId xmlns:a16="http://schemas.microsoft.com/office/drawing/2014/main" id="{34D251C6-9128-46B1-8E3B-5E9D919D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19-text-1">
            <a:extLst xmlns:a="http://schemas.openxmlformats.org/drawingml/2006/main">
              <a:ext uri="{FF2B5EF4-FFF2-40B4-BE49-F238E27FC236}">
                <a16:creationId xmlns:a16="http://schemas.microsoft.com/office/drawing/2014/main" id="{47DDEDF3-719A-4959-81A2-9146C863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Normalized usernames; used direct peer identity and ignored forwarded headers.</a:t>
            </a:r>
          </a:p>
        </p:txBody>
      </p:sp>
      <p:sp>
        <p:nvSpPr>
          <p:cNvPr id="14" name="step-19-mark-2">
            <a:extLst xmlns:a="http://schemas.openxmlformats.org/drawingml/2006/main">
              <a:ext uri="{FF2B5EF4-FFF2-40B4-BE49-F238E27FC236}">
                <a16:creationId xmlns:a16="http://schemas.microsoft.com/office/drawing/2014/main" id="{317F476F-21E7-4FD1-9645-38146C67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19-index-2">
            <a:extLst xmlns:a="http://schemas.openxmlformats.org/drawingml/2006/main">
              <a:ext uri="{FF2B5EF4-FFF2-40B4-BE49-F238E27FC236}">
                <a16:creationId xmlns:a16="http://schemas.microsoft.com/office/drawing/2014/main" id="{6CDA99A0-48E6-4335-BC5F-7A7476C2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19-text-2">
            <a:extLst xmlns:a="http://schemas.openxmlformats.org/drawingml/2006/main">
              <a:ext uri="{FF2B5EF4-FFF2-40B4-BE49-F238E27FC236}">
                <a16:creationId xmlns:a16="http://schemas.microsoft.com/office/drawing/2014/main" id="{82C85CDF-A06D-44A6-915D-2E912C39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Documented deployment limits for multiple workers and distributed rate limits.</a:t>
            </a:r>
          </a:p>
        </p:txBody>
      </p:sp>
    </p:spTree>
    <p:extLst>
      <p:ext uri="{BB962C8B-B14F-4D97-AF65-F5344CB8AC3E}">
        <p14:creationId xmlns:p14="http://schemas.microsoft.com/office/powerpoint/2010/main" val="11623464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01C5646-D3AB-46C4-B36A-A273E92C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4919D4B-F6F5-430C-8C44-ECD1C863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1268F6-BC11-45B1-B6A6-8155902B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20  ·  Performance and final handoff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44CE4FE-2149-4F23-9AF5-1D215EF0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checkpointed contribution to the end-to-end NIDS workflow.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AAB9E1-72BA-462E-9B08-F58F8207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04421D3-C662-416B-A754-7F789AFB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AE00416-E6FD-41C8-AD3B-3561E3F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22</a:t>
            </a:r>
          </a:p>
        </p:txBody>
      </p:sp>
      <p:sp>
        <p:nvSpPr>
          <p:cNvPr id="8" name="step-20-mark-0">
            <a:extLst xmlns:a="http://schemas.openxmlformats.org/drawingml/2006/main">
              <a:ext uri="{FF2B5EF4-FFF2-40B4-BE49-F238E27FC236}">
                <a16:creationId xmlns:a16="http://schemas.microsoft.com/office/drawing/2014/main" id="{2A8932B9-2952-4404-8B26-CC327CC6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20-index-0">
            <a:extLst xmlns:a="http://schemas.openxmlformats.org/drawingml/2006/main">
              <a:ext uri="{FF2B5EF4-FFF2-40B4-BE49-F238E27FC236}">
                <a16:creationId xmlns:a16="http://schemas.microsoft.com/office/drawing/2014/main" id="{F36FE38A-3478-4F9A-84B6-E3A01BA0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10" name="step-20-text-0">
            <a:extLst xmlns:a="http://schemas.openxmlformats.org/drawingml/2006/main">
              <a:ext uri="{FF2B5EF4-FFF2-40B4-BE49-F238E27FC236}">
                <a16:creationId xmlns:a16="http://schemas.microsoft.com/office/drawing/2014/main" id="{27683520-B662-4CA9-8028-C066355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Added reproducible synthetic PCAP generation and replay benchmarking.</a:t>
            </a:r>
          </a:p>
        </p:txBody>
      </p:sp>
      <p:sp>
        <p:nvSpPr>
          <p:cNvPr id="11" name="step-20-mark-1">
            <a:extLst xmlns:a="http://schemas.openxmlformats.org/drawingml/2006/main">
              <a:ext uri="{FF2B5EF4-FFF2-40B4-BE49-F238E27FC236}">
                <a16:creationId xmlns:a16="http://schemas.microsoft.com/office/drawing/2014/main" id="{F53CDF64-5A64-4C89-95FE-AB25AB8C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20-index-1">
            <a:extLst xmlns:a="http://schemas.openxmlformats.org/drawingml/2006/main">
              <a:ext uri="{FF2B5EF4-FFF2-40B4-BE49-F238E27FC236}">
                <a16:creationId xmlns:a16="http://schemas.microsoft.com/office/drawing/2014/main" id="{4FC7A9CF-4D04-4DE4-8B07-2830B3A0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02</a:t>
            </a:r>
          </a:p>
        </p:txBody>
      </p:sp>
      <p:sp>
        <p:nvSpPr>
          <p:cNvPr id="13" name="step-20-text-1">
            <a:extLst xmlns:a="http://schemas.openxmlformats.org/drawingml/2006/main">
              <a:ext uri="{FF2B5EF4-FFF2-40B4-BE49-F238E27FC236}">
                <a16:creationId xmlns:a16="http://schemas.microsoft.com/office/drawing/2014/main" id="{E06DCA95-EB97-4CC1-9609-C30CEC6C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Split dashboard routes and charts into lazy-loaded production chunks.</a:t>
            </a:r>
          </a:p>
        </p:txBody>
      </p:sp>
      <p:sp>
        <p:nvSpPr>
          <p:cNvPr id="14" name="step-20-mark-2">
            <a:extLst xmlns:a="http://schemas.openxmlformats.org/drawingml/2006/main">
              <a:ext uri="{FF2B5EF4-FFF2-40B4-BE49-F238E27FC236}">
                <a16:creationId xmlns:a16="http://schemas.microsoft.com/office/drawing/2014/main" id="{5D73D5BA-F440-4E5C-81A1-E5AA9730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20-index-2">
            <a:extLst xmlns:a="http://schemas.openxmlformats.org/drawingml/2006/main">
              <a:ext uri="{FF2B5EF4-FFF2-40B4-BE49-F238E27FC236}">
                <a16:creationId xmlns:a16="http://schemas.microsoft.com/office/drawing/2014/main" id="{C30EDC9D-1C2B-480D-836A-5D5AD409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03</a:t>
            </a:r>
          </a:p>
        </p:txBody>
      </p:sp>
      <p:sp>
        <p:nvSpPr>
          <p:cNvPr id="16" name="step-20-text-2">
            <a:extLst xmlns:a="http://schemas.openxmlformats.org/drawingml/2006/main">
              <a:ext uri="{FF2B5EF4-FFF2-40B4-BE49-F238E27FC236}">
                <a16:creationId xmlns:a16="http://schemas.microsoft.com/office/drawing/2014/main" id="{865AF58D-548C-45BE-91FF-DA70EE94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Completed the twenty-step software handoff with limits and evidence.</a:t>
            </a:r>
          </a:p>
        </p:txBody>
      </p:sp>
    </p:spTree>
    <p:extLst>
      <p:ext uri="{BB962C8B-B14F-4D97-AF65-F5344CB8AC3E}">
        <p14:creationId xmlns:p14="http://schemas.microsoft.com/office/powerpoint/2010/main" val="3447480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E504E21-CCF7-4641-B2CA-EDB2FEBE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0F0929A-17E3-46D5-8E92-68A82FB3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INTERFACE EXTENSION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7B4AA1-7697-482B-B59A-D0ADDA4C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Step 21  ·  Simulation visualization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62188E7-29A6-4391-8F7B-88B07729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graphite and brass presentation for the existing dashboard plus a controlled end-to-end demonstration.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114A6D-C27C-4792-9DA0-1394A1C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A566762-68BF-46B5-990C-CC0C9290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39F1DAC-8993-489F-86F7-466C596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23</a:t>
            </a:r>
          </a:p>
        </p:txBody>
      </p:sp>
      <p:sp>
        <p:nvSpPr>
          <p:cNvPr id="8" name="simulation-overview">
            <a:extLst xmlns:a="http://schemas.openxmlformats.org/drawingml/2006/main">
              <a:ext uri="{FF2B5EF4-FFF2-40B4-BE49-F238E27FC236}">
                <a16:creationId xmlns:a16="http://schemas.microsoft.com/office/drawing/2014/main" id="{72CA1FC5-47E7-497E-889E-D26EAA0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9525">
            <a:solidFill>
              <a:srgbClr val="354247"/>
            </a:solidFill>
            <a:prstDash val="solid"/>
          </a:ln>
        </p:spPr>
      </p:sp>
      <p:sp>
        <p:nvSpPr>
          <p:cNvPr id="9" name="sim-route">
            <a:extLst xmlns:a="http://schemas.openxmlformats.org/drawingml/2006/main">
              <a:ext uri="{FF2B5EF4-FFF2-40B4-BE49-F238E27FC236}">
                <a16:creationId xmlns:a16="http://schemas.microsoft.com/office/drawing/2014/main" id="{A2FACE85-0D96-488C-A693-6133EC9B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/simulation</a:t>
            </a:r>
          </a:p>
        </p:txBody>
      </p:sp>
      <p:sp>
        <p:nvSpPr>
          <p:cNvPr id="10" name="sim-copy">
            <a:extLst xmlns:a="http://schemas.openxmlformats.org/drawingml/2006/main">
              <a:ext uri="{FF2B5EF4-FFF2-40B4-BE49-F238E27FC236}">
                <a16:creationId xmlns:a16="http://schemas.microsoft.com/office/drawing/2014/main" id="{6E778039-9EB7-41DA-B37E-9EE02BCC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24 synthetic TCP SYN packets</a:t>
            </a:r>
          </a:p>
          <a:p xmlns:a="http://schemas.openxmlformats.org/drawingml/2006/main">
            <a: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1 bidirectional flow</a:t>
            </a:r>
          </a:p>
          <a:p xmlns:a="http://schemas.openxmlformats.org/drawingml/2006/main">
            <a: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1 tcp_syn_burst heuristic alert</a:t>
            </a:r>
          </a:p>
          <a:p xmlns:a="http://schemas.openxmlformats.org/drawingml/2006/main">
            <a: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24 SYN observed · threshold 20</a:t>
            </a:r>
          </a:p>
          <a:p xmlns:a="http://schemas.openxmlformats.org/drawingml/2006/main">
            <a:pPr>
              <a:defRPr sz="1500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No database write</a:t>
            </a:r>
          </a:p>
        </p:txBody>
      </p:sp>
      <p:sp>
        <p:nvSpPr>
          <p:cNvPr id="11" name="sim-divider">
            <a:extLst xmlns:a="http://schemas.openxmlformats.org/drawingml/2006/main">
              <a:ext uri="{FF2B5EF4-FFF2-40B4-BE49-F238E27FC236}">
                <a16:creationId xmlns:a16="http://schemas.microsoft.com/office/drawing/2014/main" id="{B386B42F-A28B-4454-B062-3D36DB02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9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im-stages-title">
            <a:extLst xmlns:a="http://schemas.openxmlformats.org/drawingml/2006/main">
              <a:ext uri="{FF2B5EF4-FFF2-40B4-BE49-F238E27FC236}">
                <a16:creationId xmlns:a16="http://schemas.microsoft.com/office/drawing/2014/main" id="{BEEDE44A-E6BD-4808-BD35-7644015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>
            <a:def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FIVE PIPELINE STAGES</a:t>
            </a:r>
          </a:p>
        </p:txBody>
      </p:sp>
      <p:sp>
        <p:nvSpPr>
          <p:cNvPr id="13" name="sim-stage-0">
            <a:extLst xmlns:a="http://schemas.openxmlformats.org/drawingml/2006/main">
              <a:ext uri="{FF2B5EF4-FFF2-40B4-BE49-F238E27FC236}">
                <a16:creationId xmlns:a16="http://schemas.microsoft.com/office/drawing/2014/main" id="{B9A756B7-EAFB-4E49-811F-9186EE8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01   Packet metadata parse</a:t>
            </a:r>
          </a:p>
        </p:txBody>
      </p:sp>
      <p:sp>
        <p:nvSpPr>
          <p:cNvPr id="14" name="sim-stage-1">
            <a:extLst xmlns:a="http://schemas.openxmlformats.org/drawingml/2006/main">
              <a:ext uri="{FF2B5EF4-FFF2-40B4-BE49-F238E27FC236}">
                <a16:creationId xmlns:a16="http://schemas.microsoft.com/office/drawing/2014/main" id="{4FFF0F58-C5E1-4D5E-A49F-E058212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02   Bidirectional flow aggregation</a:t>
            </a:r>
          </a:p>
        </p:txBody>
      </p:sp>
      <p:sp>
        <p:nvSpPr>
          <p:cNvPr id="15" name="sim-stage-2">
            <a:extLst xmlns:a="http://schemas.openxmlformats.org/drawingml/2006/main">
              <a:ext uri="{FF2B5EF4-FFF2-40B4-BE49-F238E27FC236}">
                <a16:creationId xmlns:a16="http://schemas.microsoft.com/office/drawing/2014/main" id="{F95E4F07-105C-45BA-9B99-FD56965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03   Versioned feature extraction</a:t>
            </a:r>
          </a:p>
        </p:txBody>
      </p:sp>
      <p:sp>
        <p:nvSpPr>
          <p:cNvPr id="16" name="sim-stage-3">
            <a:extLst xmlns:a="http://schemas.openxmlformats.org/drawingml/2006/main">
              <a:ext uri="{FF2B5EF4-FFF2-40B4-BE49-F238E27FC236}">
                <a16:creationId xmlns:a16="http://schemas.microsoft.com/office/drawing/2014/main" id="{B92A401B-5C82-4E58-8596-AA81E13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04   Model status: unavailable</a:t>
            </a:r>
          </a:p>
        </p:txBody>
      </p:sp>
      <p:sp>
        <p:nvSpPr>
          <p:cNvPr id="17" name="sim-stage-4">
            <a:extLst xmlns:a="http://schemas.openxmlformats.org/drawingml/2006/main">
              <a:ext uri="{FF2B5EF4-FFF2-40B4-BE49-F238E27FC236}">
                <a16:creationId xmlns:a16="http://schemas.microsoft.com/office/drawing/2014/main" id="{298A32FC-3141-431B-AA4B-2E6B53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05   Explainable rule evaluation</a:t>
            </a:r>
          </a:p>
        </p:txBody>
      </p:sp>
    </p:spTree>
    <p:extLst>
      <p:ext uri="{BB962C8B-B14F-4D97-AF65-F5344CB8AC3E}">
        <p14:creationId xmlns:p14="http://schemas.microsoft.com/office/powerpoint/2010/main" val="4206739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5D4AE84-465E-4A96-B1EF-C7927E4E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A2AEDDC-E3E2-4370-8653-80FC7D3E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EVIDENCE SUMMARY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5C9C30-9F2E-4996-B4F0-1C0FA40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Software checks and measured results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F1D09FF-3CFF-4E30-AC4B-7C448091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Results document implementation behavior and machine-specific timing; no real-data detection score is available.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567C096-7E72-45AF-B95C-76920086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32EEFE9-F2E3-4FBE-B3ED-67399C0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D0A778E-120D-4EE2-A133-FE2B55F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24</a:t>
            </a:r>
          </a:p>
        </p:txBody>
      </p:sp>
      <p:sp>
        <p:nvSpPr>
          <p:cNvPr id="8" name="result-number-0">
            <a:extLst xmlns:a="http://schemas.openxmlformats.org/drawingml/2006/main">
              <a:ext uri="{FF2B5EF4-FFF2-40B4-BE49-F238E27FC236}">
                <a16:creationId xmlns:a16="http://schemas.microsoft.com/office/drawing/2014/main" id="{871AD875-2DDD-4B59-A143-D0FBD45A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74 passed · 2 skipped</a:t>
            </a:r>
          </a:p>
        </p:txBody>
      </p:sp>
      <p:sp>
        <p:nvSpPr>
          <p:cNvPr id="9" name="result-description-0">
            <a:extLst xmlns:a="http://schemas.openxmlformats.org/drawingml/2006/main">
              <a:ext uri="{FF2B5EF4-FFF2-40B4-BE49-F238E27FC236}">
                <a16:creationId xmlns:a16="http://schemas.microsoft.com/office/drawing/2014/main" id="{450057FD-971A-4A3D-B8BD-784E616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Full backend suite at Step 20; opt-in PostgreSQL coverage ran separately.</a:t>
            </a:r>
          </a:p>
        </p:txBody>
      </p:sp>
      <p:sp>
        <p:nvSpPr>
          <p:cNvPr id="10" name="result-line-0">
            <a:extLst xmlns:a="http://schemas.openxmlformats.org/drawingml/2006/main">
              <a:ext uri="{FF2B5EF4-FFF2-40B4-BE49-F238E27FC236}">
                <a16:creationId xmlns:a16="http://schemas.microsoft.com/office/drawing/2014/main" id="{65DD6ABA-8564-4644-92D1-9AD6ADE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ult-number-1">
            <a:extLst xmlns:a="http://schemas.openxmlformats.org/drawingml/2006/main">
              <a:ext uri="{FF2B5EF4-FFF2-40B4-BE49-F238E27FC236}">
                <a16:creationId xmlns:a16="http://schemas.microsoft.com/office/drawing/2014/main" id="{270821E7-0305-47FB-B13F-9C510864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15 passed</a:t>
            </a:r>
          </a:p>
        </p:txBody>
      </p:sp>
      <p:sp>
        <p:nvSpPr>
          <p:cNvPr id="12" name="result-description-1">
            <a:extLst xmlns:a="http://schemas.openxmlformats.org/drawingml/2006/main">
              <a:ext uri="{FF2B5EF4-FFF2-40B4-BE49-F238E27FC236}">
                <a16:creationId xmlns:a16="http://schemas.microsoft.com/office/drawing/2014/main" id="{8D0402F1-0155-408A-9081-8789F3B9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Frontend suite at Step 20 across three files.</a:t>
            </a:r>
          </a:p>
        </p:txBody>
      </p:sp>
      <p:sp>
        <p:nvSpPr>
          <p:cNvPr id="13" name="result-line-1">
            <a:extLst xmlns:a="http://schemas.openxmlformats.org/drawingml/2006/main">
              <a:ext uri="{FF2B5EF4-FFF2-40B4-BE49-F238E27FC236}">
                <a16:creationId xmlns:a16="http://schemas.microsoft.com/office/drawing/2014/main" id="{24EE8692-2320-4262-A27A-60D325BE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ult-number-2">
            <a:extLst xmlns:a="http://schemas.openxmlformats.org/drawingml/2006/main">
              <a:ext uri="{FF2B5EF4-FFF2-40B4-BE49-F238E27FC236}">
                <a16:creationId xmlns:a16="http://schemas.microsoft.com/office/drawing/2014/main" id="{72E609AE-5EC5-4CAC-96A6-892F8FE6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267.48 kB</a:t>
            </a:r>
          </a:p>
        </p:txBody>
      </p:sp>
      <p:sp>
        <p:nvSpPr>
          <p:cNvPr id="15" name="result-description-2">
            <a:extLst xmlns:a="http://schemas.openxmlformats.org/drawingml/2006/main">
              <a:ext uri="{FF2B5EF4-FFF2-40B4-BE49-F238E27FC236}">
                <a16:creationId xmlns:a16="http://schemas.microsoft.com/office/drawing/2014/main" id="{7C647060-6B54-476D-B782-3DCE882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Initial JavaScript bundle; 84.75 kB gzip. Chart chunk 337.60 kB.</a:t>
            </a:r>
          </a:p>
        </p:txBody>
      </p:sp>
      <p:sp>
        <p:nvSpPr>
          <p:cNvPr id="16" name="result-line-2">
            <a:extLst xmlns:a="http://schemas.openxmlformats.org/drawingml/2006/main">
              <a:ext uri="{FF2B5EF4-FFF2-40B4-BE49-F238E27FC236}">
                <a16:creationId xmlns:a16="http://schemas.microsoft.com/office/drawing/2014/main" id="{87F24DE9-A405-4127-B51B-C970734D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ult-number-3">
            <a:extLst xmlns:a="http://schemas.openxmlformats.org/drawingml/2006/main">
              <a:ext uri="{FF2B5EF4-FFF2-40B4-BE49-F238E27FC236}">
                <a16:creationId xmlns:a16="http://schemas.microsoft.com/office/drawing/2014/main" id="{632F4FEA-7518-4C5E-AA60-B35129B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100.99 packets/s</a:t>
            </a:r>
          </a:p>
        </p:txBody>
      </p:sp>
      <p:sp>
        <p:nvSpPr>
          <p:cNvPr id="18" name="result-description-3">
            <a:extLst xmlns:a="http://schemas.openxmlformats.org/drawingml/2006/main">
              <a:ext uri="{FF2B5EF4-FFF2-40B4-BE49-F238E27FC236}">
                <a16:creationId xmlns:a16="http://schemas.microsoft.com/office/drawing/2014/main" id="{46A12519-C699-4F44-9A36-49C86AF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Median synthetic CLI replay throughput over five 2,400-packet runs.</a:t>
            </a:r>
          </a:p>
        </p:txBody>
      </p:sp>
      <p:sp>
        <p:nvSpPr>
          <p:cNvPr id="19" name="result-line-3">
            <a:extLst xmlns:a="http://schemas.openxmlformats.org/drawingml/2006/main">
              <a:ext uri="{FF2B5EF4-FFF2-40B4-BE49-F238E27FC236}">
                <a16:creationId xmlns:a16="http://schemas.microsoft.com/office/drawing/2014/main" id="{9402A09B-FE29-4F06-81EC-C7878BD5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sult-number-4">
            <a:extLst xmlns:a="http://schemas.openxmlformats.org/drawingml/2006/main">
              <a:ext uri="{FF2B5EF4-FFF2-40B4-BE49-F238E27FC236}">
                <a16:creationId xmlns:a16="http://schemas.microsoft.com/office/drawing/2014/main" id="{59D0913E-6B38-4FD8-B4D5-9976F1F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24 → 1 → 1</a:t>
            </a:r>
          </a:p>
        </p:txBody>
      </p:sp>
      <p:sp>
        <p:nvSpPr>
          <p:cNvPr id="21" name="result-description-4">
            <a:extLst xmlns:a="http://schemas.openxmlformats.org/drawingml/2006/main">
              <a:ext uri="{FF2B5EF4-FFF2-40B4-BE49-F238E27FC236}">
                <a16:creationId xmlns:a16="http://schemas.microsoft.com/office/drawing/2014/main" id="{13F11596-22DE-483B-9724-C07EB55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New simulation: packets, flow, heuristic alert; non-persistent.</a:t>
            </a:r>
          </a:p>
        </p:txBody>
      </p:sp>
    </p:spTree>
    <p:extLst>
      <p:ext uri="{BB962C8B-B14F-4D97-AF65-F5344CB8AC3E}">
        <p14:creationId xmlns:p14="http://schemas.microsoft.com/office/powerpoint/2010/main" val="12896016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D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4F62BC7-9919-4E7A-9D9E-C01CE1A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75A33C9-D47D-49B8-A025-6E21AFF2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RESEARCH BOUNDARY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714A4D-2371-421E-8A35-813C03E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EEE6"/>
                </a:solidFill>
                <a:latin typeface="Aptos"/>
                <a:ea typeface="Aptos"/>
                <a:cs typeface="Aptos"/>
              </a:rPr>
              <a:t>Limits and next evidence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1FB88D0-2BF6-4544-A683-0CC3A1D1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D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ADA8"/>
                </a:solidFill>
                <a:latin typeface="Aptos"/>
                <a:ea typeface="Aptos"/>
                <a:cs typeface="Aptos"/>
              </a:rPr>
              <a:t>A software pipeline is not evidence of real-world detection quality.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9FEA24-5BD4-450F-B0DD-30C50F90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887FA2C-6A70-4C58-AF02-9FF701D5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>
            <a:def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0">
                <a:solidFill>
                  <a:srgbClr val="A6ADA8"/>
                </a:solidFill>
                <a:latin typeface="Cascadia Code"/>
                <a:ea typeface="Cascadia Code"/>
                <a:cs typeface="Cascadia Code"/>
              </a:rPr>
              <a:t>NETWORK OBSERVATORY  ·  IMPLEMENTATION RECORD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8B1466F-A209-46FA-9AE6-7F3D62E8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defPPr>
            <a:lvl1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1pPr>
            <a:lvl2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2pPr>
            <a:lvl3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3pPr>
            <a:lvl4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4pPr>
            <a:lvl5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5pPr>
            <a:lvl6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6pPr>
            <a:lvl7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7pPr>
            <a:lvl8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8pPr>
            <a:lvl9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E8C875"/>
                </a:solidFill>
                <a:latin typeface="Cascadia Code"/>
                <a:ea typeface="Cascadia Code"/>
                <a:cs typeface="Cascadia Code"/>
              </a:rPr>
              <a:t>25</a:t>
            </a:r>
          </a:p>
        </p:txBody>
      </p:sp>
      <p:sp>
        <p:nvSpPr>
          <p:cNvPr id="8" name="limit-head-0">
            <a:extLst xmlns:a="http://schemas.openxmlformats.org/drawingml/2006/main">
              <a:ext uri="{FF2B5EF4-FFF2-40B4-BE49-F238E27FC236}">
                <a16:creationId xmlns:a16="http://schemas.microsoft.com/office/drawing/2014/main" id="{33559501-700F-402D-BD4D-93925542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>
            <a:def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Needed for classifier claims</a:t>
            </a:r>
          </a:p>
        </p:txBody>
      </p:sp>
      <p:sp>
        <p:nvSpPr>
          <p:cNvPr id="9" name="limit-marker-0-0">
            <a:extLst xmlns:a="http://schemas.openxmlformats.org/drawingml/2006/main">
              <a:ext uri="{FF2B5EF4-FFF2-40B4-BE49-F238E27FC236}">
                <a16:creationId xmlns:a16="http://schemas.microsoft.com/office/drawing/2014/main" id="{40541B5F-F494-402D-917B-66A767EE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mit-item-0-0">
            <a:extLst xmlns:a="http://schemas.openxmlformats.org/drawingml/2006/main">
              <a:ext uri="{FF2B5EF4-FFF2-40B4-BE49-F238E27FC236}">
                <a16:creationId xmlns:a16="http://schemas.microsoft.com/office/drawing/2014/main" id="{5DFC9B0F-F8CC-4442-80D4-4F25C265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Provenance-tracked labeled dataset</a:t>
            </a:r>
          </a:p>
        </p:txBody>
      </p:sp>
      <p:sp>
        <p:nvSpPr>
          <p:cNvPr id="11" name="limit-marker-0-1">
            <a:extLst xmlns:a="http://schemas.openxmlformats.org/drawingml/2006/main">
              <a:ext uri="{FF2B5EF4-FFF2-40B4-BE49-F238E27FC236}">
                <a16:creationId xmlns:a16="http://schemas.microsoft.com/office/drawing/2014/main" id="{0FB4C96D-EADA-42E7-AC25-ED7BCF2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mit-item-0-1">
            <a:extLst xmlns:a="http://schemas.openxmlformats.org/drawingml/2006/main">
              <a:ext uri="{FF2B5EF4-FFF2-40B4-BE49-F238E27FC236}">
                <a16:creationId xmlns:a16="http://schemas.microsoft.com/office/drawing/2014/main" id="{28686816-5370-4C92-9DD0-C7AE3BC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Features compatible with schema 1.0</a:t>
            </a:r>
          </a:p>
        </p:txBody>
      </p:sp>
      <p:sp>
        <p:nvSpPr>
          <p:cNvPr id="13" name="limit-marker-0-2">
            <a:extLst xmlns:a="http://schemas.openxmlformats.org/drawingml/2006/main">
              <a:ext uri="{FF2B5EF4-FFF2-40B4-BE49-F238E27FC236}">
                <a16:creationId xmlns:a16="http://schemas.microsoft.com/office/drawing/2014/main" id="{0E9D4D92-ACD3-4202-A68B-105E4FA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imit-item-0-2">
            <a:extLst xmlns:a="http://schemas.openxmlformats.org/drawingml/2006/main">
              <a:ext uri="{FF2B5EF4-FFF2-40B4-BE49-F238E27FC236}">
                <a16:creationId xmlns:a16="http://schemas.microsoft.com/office/drawing/2014/main" id="{A55404D8-CF19-4E84-841C-75E40642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Independent capture groups for held-out evaluation</a:t>
            </a:r>
          </a:p>
        </p:txBody>
      </p:sp>
      <p:sp>
        <p:nvSpPr>
          <p:cNvPr id="15" name="limit-marker-0-3">
            <a:extLst xmlns:a="http://schemas.openxmlformats.org/drawingml/2006/main">
              <a:ext uri="{FF2B5EF4-FFF2-40B4-BE49-F238E27FC236}">
                <a16:creationId xmlns:a16="http://schemas.microsoft.com/office/drawing/2014/main" id="{EC1BD745-FDE0-4AAE-9D4F-78DDC77F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imit-item-0-3">
            <a:extLst xmlns:a="http://schemas.openxmlformats.org/drawingml/2006/main">
              <a:ext uri="{FF2B5EF4-FFF2-40B4-BE49-F238E27FC236}">
                <a16:creationId xmlns:a16="http://schemas.microsoft.com/office/drawing/2014/main" id="{AF299E5B-C7E9-490C-BA74-3CBA491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Trained model with verified artifact/report</a:t>
            </a:r>
          </a:p>
        </p:txBody>
      </p:sp>
      <p:sp>
        <p:nvSpPr>
          <p:cNvPr id="17" name="limit-head-1">
            <a:extLst xmlns:a="http://schemas.openxmlformats.org/drawingml/2006/main">
              <a:ext uri="{FF2B5EF4-FFF2-40B4-BE49-F238E27FC236}">
                <a16:creationId xmlns:a16="http://schemas.microsoft.com/office/drawing/2014/main" id="{0C6A77B0-47CC-4E03-8FD4-080C70C7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479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>
            <a:def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Not demonstrated yet</a:t>
            </a:r>
          </a:p>
        </p:txBody>
      </p:sp>
      <p:sp>
        <p:nvSpPr>
          <p:cNvPr id="18" name="limit-marker-1-0">
            <a:extLst xmlns:a="http://schemas.openxmlformats.org/drawingml/2006/main">
              <a:ext uri="{FF2B5EF4-FFF2-40B4-BE49-F238E27FC236}">
                <a16:creationId xmlns:a16="http://schemas.microsoft.com/office/drawing/2014/main" id="{F29D7972-D3D1-461E-9DA7-1BC019F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861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imit-item-1-0">
            <a:extLst xmlns:a="http://schemas.openxmlformats.org/drawingml/2006/main">
              <a:ext uri="{FF2B5EF4-FFF2-40B4-BE49-F238E27FC236}">
                <a16:creationId xmlns:a16="http://schemas.microsoft.com/office/drawing/2014/main" id="{2D71F818-6DC4-4FB5-ABE3-AFB28AB5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38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Real-data precision, recall or F1</a:t>
            </a:r>
          </a:p>
        </p:txBody>
      </p:sp>
      <p:sp>
        <p:nvSpPr>
          <p:cNvPr id="20" name="limit-marker-1-1">
            <a:extLst xmlns:a="http://schemas.openxmlformats.org/drawingml/2006/main">
              <a:ext uri="{FF2B5EF4-FFF2-40B4-BE49-F238E27FC236}">
                <a16:creationId xmlns:a16="http://schemas.microsoft.com/office/drawing/2014/main" id="{B4C953F2-C6D4-4313-A7BB-64561AD9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576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imit-item-1-1">
            <a:extLst xmlns:a="http://schemas.openxmlformats.org/drawingml/2006/main">
              <a:ext uri="{FF2B5EF4-FFF2-40B4-BE49-F238E27FC236}">
                <a16:creationId xmlns:a16="http://schemas.microsoft.com/office/drawing/2014/main" id="{F19FCA3D-9277-45A0-9CB0-C26CFE1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10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Live packet-capture operation on this host</a:t>
            </a:r>
          </a:p>
        </p:txBody>
      </p:sp>
      <p:sp>
        <p:nvSpPr>
          <p:cNvPr id="22" name="limit-marker-1-2">
            <a:extLst xmlns:a="http://schemas.openxmlformats.org/drawingml/2006/main">
              <a:ext uri="{FF2B5EF4-FFF2-40B4-BE49-F238E27FC236}">
                <a16:creationId xmlns:a16="http://schemas.microsoft.com/office/drawing/2014/main" id="{97AD001B-B5A4-4434-B8FB-419A845A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291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imit-item-1-2">
            <a:extLst xmlns:a="http://schemas.openxmlformats.org/drawingml/2006/main">
              <a:ext uri="{FF2B5EF4-FFF2-40B4-BE49-F238E27FC236}">
                <a16:creationId xmlns:a16="http://schemas.microsoft.com/office/drawing/2014/main" id="{4E41A59A-986A-4A02-A089-85BFF75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81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Real attack detection or generalization</a:t>
            </a:r>
          </a:p>
        </p:txBody>
      </p:sp>
      <p:sp>
        <p:nvSpPr>
          <p:cNvPr id="24" name="limit-marker-1-3">
            <a:extLst xmlns:a="http://schemas.openxmlformats.org/drawingml/2006/main">
              <a:ext uri="{FF2B5EF4-FFF2-40B4-BE49-F238E27FC236}">
                <a16:creationId xmlns:a16="http://schemas.microsoft.com/office/drawing/2014/main" id="{97830CE8-521D-4919-8EDB-5632D3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imit-item-1-3">
            <a:extLst xmlns:a="http://schemas.openxmlformats.org/drawingml/2006/main">
              <a:ext uri="{FF2B5EF4-FFF2-40B4-BE49-F238E27FC236}">
                <a16:creationId xmlns:a16="http://schemas.microsoft.com/office/drawing/2014/main" id="{9E4EACC1-4EEF-472B-A9A4-F690F32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53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E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0EEE6"/>
                </a:solidFill>
                <a:latin typeface="Aptos"/>
                <a:ea typeface="Aptos"/>
                <a:cs typeface="Aptos"/>
              </a:rPr>
              <a:t>Public deployment security / TLS review</a:t>
            </a:r>
          </a:p>
        </p:txBody>
      </p:sp>
      <p:sp>
        <p:nvSpPr>
          <p:cNvPr id="26" name="limit-final">
            <a:extLst xmlns:a="http://schemas.openxmlformats.org/drawingml/2006/main">
              <a:ext uri="{FF2B5EF4-FFF2-40B4-BE49-F238E27FC236}">
                <a16:creationId xmlns:a16="http://schemas.microsoft.com/office/drawing/2014/main" id="{24754747-6899-48AB-8D3E-5231DE0A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8C8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C875"/>
                </a:solidFill>
                <a:latin typeface="Aptos"/>
                <a:ea typeface="Aptos"/>
                <a:cs typeface="Aptos"/>
              </a:rPr>
              <a:t>The demo confirms pipeline wiring. It does not establish accuracy or identify an actual attack.</a:t>
            </a:r>
          </a:p>
        </p:txBody>
      </p:sp>
    </p:spTree>
    <p:extLst>
      <p:ext uri="{BB962C8B-B14F-4D97-AF65-F5344CB8AC3E}">
        <p14:creationId xmlns:p14="http://schemas.microsoft.com/office/powerpoint/2010/main" val="2012349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2026-10-26T10:25:07.3710000Z</dcterms:created>
  <dcterms:modified xsi:type="dcterms:W3CDTF">2026-10-26T10:25:07.3710000Z</dcterms:modified>
</coreProperties>
</file>